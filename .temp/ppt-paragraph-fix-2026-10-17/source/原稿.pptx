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f2fbfc0f84f7b" /><Relationship Type="http://schemas.openxmlformats.org/officeDocument/2006/relationships/extended-properties" Target="/docProps/app.xml" Id="R4d322375830841f3" /><Relationship Type="http://schemas.openxmlformats.org/officeDocument/2006/relationships/officeDocument" Target="/ppt/presentation.xml" Id="R59514793f412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4e59444ae4621"/>
  </p:sldMasterIdLst>
  <p:notesMasterIdLst>
    <p:notesMasterId xmlns:r="http://schemas.openxmlformats.org/officeDocument/2006/relationships" r:id="R6437f923483b464a"/>
  </p:notesMasterIdLst>
  <p:sldIdLst>
    <p:sldId xmlns:r="http://schemas.openxmlformats.org/officeDocument/2006/relationships" id="256" r:id="Re74cfc2826ea4709"/>
    <p:sldId xmlns:r="http://schemas.openxmlformats.org/officeDocument/2006/relationships" id="257" r:id="R88986a9e4dec409f"/>
    <p:sldId xmlns:r="http://schemas.openxmlformats.org/officeDocument/2006/relationships" id="258" r:id="R23ed867c3d1b4290"/>
    <p:sldId xmlns:r="http://schemas.openxmlformats.org/officeDocument/2006/relationships" id="259" r:id="Rd7d2de57c6cf45bf"/>
    <p:sldId xmlns:r="http://schemas.openxmlformats.org/officeDocument/2006/relationships" id="260" r:id="Ra86e66a17a6c4a3b"/>
    <p:sldId xmlns:r="http://schemas.openxmlformats.org/officeDocument/2006/relationships" id="261" r:id="Rbe85217e79bf401b"/>
    <p:sldId xmlns:r="http://schemas.openxmlformats.org/officeDocument/2006/relationships" id="262" r:id="R9be958690d7c4f95"/>
    <p:sldId xmlns:r="http://schemas.openxmlformats.org/officeDocument/2006/relationships" id="263" r:id="R290702bfe0494a22"/>
    <p:sldId xmlns:r="http://schemas.openxmlformats.org/officeDocument/2006/relationships" id="264" r:id="R6f3052c4685a41ec"/>
    <p:sldId xmlns:r="http://schemas.openxmlformats.org/officeDocument/2006/relationships" id="265" r:id="R335ed64a25d841e0"/>
    <p:sldId xmlns:r="http://schemas.openxmlformats.org/officeDocument/2006/relationships" id="266" r:id="R7ef1c402c25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f9a623a064e23" /><Relationship Type="http://schemas.openxmlformats.org/officeDocument/2006/relationships/slideMaster" Target="/ppt/slideMasters/slideMaster1.xml" Id="R3564e59444ae4621" /><Relationship Type="http://schemas.openxmlformats.org/officeDocument/2006/relationships/notesMaster" Target="/ppt/notesMasters/notesMaster1.xml" Id="R6437f923483b464a" /><Relationship Type="http://schemas.openxmlformats.org/officeDocument/2006/relationships/presProps" Target="/ppt/presProps.xml" Id="Rb285cc727c934387" /><Relationship Type="http://schemas.openxmlformats.org/officeDocument/2006/relationships/tableStyles" Target="/ppt/tableStyles.xml" Id="Ra9ad6def8ba444d3" /><Relationship Type="http://schemas.openxmlformats.org/officeDocument/2006/relationships/slide" Target="/ppt/slides/slide1.xml" Id="Re74cfc2826ea4709" /><Relationship Type="http://schemas.openxmlformats.org/officeDocument/2006/relationships/slide" Target="/ppt/slides/slide2.xml" Id="R88986a9e4dec409f" /><Relationship Type="http://schemas.openxmlformats.org/officeDocument/2006/relationships/slide" Target="/ppt/slides/slide3.xml" Id="R23ed867c3d1b4290" /><Relationship Type="http://schemas.openxmlformats.org/officeDocument/2006/relationships/slide" Target="/ppt/slides/slide4.xml" Id="Rd7d2de57c6cf45bf" /><Relationship Type="http://schemas.openxmlformats.org/officeDocument/2006/relationships/slide" Target="/ppt/slides/slide5.xml" Id="Ra86e66a17a6c4a3b" /><Relationship Type="http://schemas.openxmlformats.org/officeDocument/2006/relationships/slide" Target="/ppt/slides/slide6.xml" Id="Rbe85217e79bf401b" /><Relationship Type="http://schemas.openxmlformats.org/officeDocument/2006/relationships/slide" Target="/ppt/slides/slide7.xml" Id="R9be958690d7c4f95" /><Relationship Type="http://schemas.openxmlformats.org/officeDocument/2006/relationships/slide" Target="/ppt/slides/slide8.xml" Id="R290702bfe0494a22" /><Relationship Type="http://schemas.openxmlformats.org/officeDocument/2006/relationships/slide" Target="/ppt/slides/slide9.xml" Id="R6f3052c4685a41ec" /><Relationship Type="http://schemas.openxmlformats.org/officeDocument/2006/relationships/slide" Target="/ppt/slides/slide10.xml" Id="R335ed64a25d841e0" /><Relationship Type="http://schemas.openxmlformats.org/officeDocument/2006/relationships/slide" Target="/ppt/slides/slide11.xml" Id="R7ef1c402c25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bb03796f7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37672597b49f0" /><Relationship Type="http://schemas.openxmlformats.org/officeDocument/2006/relationships/notesMaster" Target="/ppt/notesMasters/notesMaster1.xml" Id="Rec209902f0ca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d71ebf7cb4936" /><Relationship Type="http://schemas.openxmlformats.org/officeDocument/2006/relationships/notesMaster" Target="/ppt/notesMasters/notesMaster1.xml" Id="R965f7c397019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62ebc11b14009" /><Relationship Type="http://schemas.openxmlformats.org/officeDocument/2006/relationships/notesMaster" Target="/ppt/notesMasters/notesMaster1.xml" Id="R93764d52502846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3cba84e8e472d" /><Relationship Type="http://schemas.openxmlformats.org/officeDocument/2006/relationships/notesMaster" Target="/ppt/notesMasters/notesMaster1.xml" Id="R950bc48ae3a241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9c4b3182f430b" /><Relationship Type="http://schemas.openxmlformats.org/officeDocument/2006/relationships/notesMaster" Target="/ppt/notesMasters/notesMaster1.xml" Id="Rd7a6c28123fc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0536ae0f14f4e" /><Relationship Type="http://schemas.openxmlformats.org/officeDocument/2006/relationships/notesMaster" Target="/ppt/notesMasters/notesMaster1.xml" Id="R281ec3dcc2fb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8e7ff3b6b74adc" /><Relationship Type="http://schemas.openxmlformats.org/officeDocument/2006/relationships/notesMaster" Target="/ppt/notesMasters/notesMaster1.xml" Id="R5f793ec38e0b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4758d44ca944cb" /><Relationship Type="http://schemas.openxmlformats.org/officeDocument/2006/relationships/notesMaster" Target="/ppt/notesMasters/notesMaster1.xml" Id="Rc136b9fdd2db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5dded6a517412b" /><Relationship Type="http://schemas.openxmlformats.org/officeDocument/2006/relationships/notesMaster" Target="/ppt/notesMasters/notesMaster1.xml" Id="R99ed6f203cf0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6e8aa94344027" /><Relationship Type="http://schemas.openxmlformats.org/officeDocument/2006/relationships/notesMaster" Target="/ppt/notesMasters/notesMaster1.xml" Id="R6f7ed66c6fc4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62e2f1c08403d" /><Relationship Type="http://schemas.openxmlformats.org/officeDocument/2006/relationships/notesMaster" Target="/ppt/notesMasters/notesMaster1.xml" Id="R51f18f66efb7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89c3fff9c4f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7d9f5f95e4f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910a02ac4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e2950fcd942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dffd62dc340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5169660f7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C4475-CEE1-407B-9E3E-AB56D555B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0A9795-DA51-40B8-81E9-A63818201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F2808-1FB3-479A-811A-2A39E7F95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D2146-F16B-4D54-8EDA-705E16964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632DE7-0396-43D4-A14C-EAE140830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1600C-9E6F-4073-A8A8-5DFBC9BFE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6F0CE0-D3A2-476C-B384-CDA814083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C742F0-BED6-477F-8936-5574667DA5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C8E864-2DA1-40D7-8379-1F0ADE2A7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995F56-04E4-4209-BC04-5A0A7A0FA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45bfe4cd640a1" /><Relationship Type="http://schemas.openxmlformats.org/officeDocument/2006/relationships/slideLayout" Target="/ppt/slideLayouts/slideLayout1.xml" Id="R0822b22bfdbf4657" /><Relationship Type="http://schemas.openxmlformats.org/officeDocument/2006/relationships/slideLayout" Target="/ppt/slideLayouts/slideLayout2.xml" Id="Re09969d4f9584f9b" /><Relationship Type="http://schemas.openxmlformats.org/officeDocument/2006/relationships/slideLayout" Target="/ppt/slideLayouts/slideLayout3.xml" Id="R4fac374c0bd14d94" /><Relationship Type="http://schemas.openxmlformats.org/officeDocument/2006/relationships/slideLayout" Target="/ppt/slideLayouts/slideLayout4.xml" Id="Ra9d801c1fdbe432b" /><Relationship Type="http://schemas.openxmlformats.org/officeDocument/2006/relationships/slideLayout" Target="/ppt/slideLayouts/slideLayout5.xml" Id="R571933060ab24a9c" /><Relationship Type="http://schemas.openxmlformats.org/officeDocument/2006/relationships/slideLayout" Target="/ppt/slideLayouts/slideLayout6.xml" Id="R42416e0e5e25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2b22bfdbf4657"/>
    <p:sldLayoutId xmlns:r="http://schemas.openxmlformats.org/officeDocument/2006/relationships" id="2147483650" r:id="Re09969d4f9584f9b"/>
    <p:sldLayoutId xmlns:r="http://schemas.openxmlformats.org/officeDocument/2006/relationships" id="2147483651" r:id="R4fac374c0bd14d94"/>
    <p:sldLayoutId xmlns:r="http://schemas.openxmlformats.org/officeDocument/2006/relationships" id="2147483652" r:id="Ra9d801c1fdbe432b"/>
    <p:sldLayoutId xmlns:r="http://schemas.openxmlformats.org/officeDocument/2006/relationships" id="2147483653" r:id="R571933060ab24a9c"/>
    <p:sldLayoutId xmlns:r="http://schemas.openxmlformats.org/officeDocument/2006/relationships" id="2147483654" r:id="R42416e0e5e25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03934fa93432d" /><Relationship Type="http://schemas.openxmlformats.org/officeDocument/2006/relationships/image" Target="/ppt/media/image.jpeg" Id="R71660b2c44434645" /><Relationship Type="http://schemas.openxmlformats.org/officeDocument/2006/relationships/notesSlide" Target="/ppt/notesSlides/notesSlide1.xml" Id="R6f5f5575b4d3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180a377844b3e" /><Relationship Type="http://schemas.openxmlformats.org/officeDocument/2006/relationships/notesSlide" Target="/ppt/notesSlides/notesSlide2.xml" Id="R7cd102a81d2e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f021fc5f7402d" /><Relationship Type="http://schemas.openxmlformats.org/officeDocument/2006/relationships/notesSlide" Target="/ppt/notesSlides/notesSlide3.xml" Id="R443e2d8de63b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40985067a41e8" /><Relationship Type="http://schemas.openxmlformats.org/officeDocument/2006/relationships/notesSlide" Target="/ppt/notesSlides/notesSlide4.xml" Id="R543a1f445309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7805bd1514f34" /><Relationship Type="http://schemas.openxmlformats.org/officeDocument/2006/relationships/notesSlide" Target="/ppt/notesSlides/notesSlide5.xml" Id="Rb97b151bb816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990764907485e" /><Relationship Type="http://schemas.openxmlformats.org/officeDocument/2006/relationships/notesSlide" Target="/ppt/notesSlides/notesSlide6.xml" Id="R93a174a045b6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c44675c8a4b41" /><Relationship Type="http://schemas.openxmlformats.org/officeDocument/2006/relationships/image" Target="/ppt/media/image2.jpeg" Id="R2f06c2279dd94a51" /><Relationship Type="http://schemas.openxmlformats.org/officeDocument/2006/relationships/notesSlide" Target="/ppt/notesSlides/notesSlide7.xml" Id="R847021e3caf8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d3fc0604b4010" /><Relationship Type="http://schemas.openxmlformats.org/officeDocument/2006/relationships/image" Target="/ppt/media/image3.jpeg" Id="R796895ced28f46c0" /><Relationship Type="http://schemas.openxmlformats.org/officeDocument/2006/relationships/notesSlide" Target="/ppt/notesSlides/notesSlide8.xml" Id="Raf8d5f27dfec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0205c0fb4c8d" /><Relationship Type="http://schemas.openxmlformats.org/officeDocument/2006/relationships/notesSlide" Target="/ppt/notesSlides/notesSlide9.xml" Id="R77830e69377a44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33ceef9184984" /><Relationship Type="http://schemas.openxmlformats.org/officeDocument/2006/relationships/notesSlide" Target="/ppt/notesSlides/notesSlide10.xml" Id="Re2697d1475db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eb3bcb2cd4a52" /><Relationship Type="http://schemas.openxmlformats.org/officeDocument/2006/relationships/hyperlink" Target="https://www.un.org/zh/about-us/un-charter/full-text" TargetMode="External" Id="R5b49e9ccbba34901" /><Relationship Type="http://schemas.openxmlformats.org/officeDocument/2006/relationships/hyperlink" Target="https://www.mfa.gov.cn/wjbxw_new/202509/t20250901_11699909.shtml" TargetMode="External" Id="R949cdd8026184236" /><Relationship Type="http://schemas.openxmlformats.org/officeDocument/2006/relationships/hyperlink" Target="https://digitallibrary.un.org/record/4054005?ln=zh_CN" TargetMode="External" Id="R2eb1c5033dc8430e" /><Relationship Type="http://schemas.openxmlformats.org/officeDocument/2006/relationships/hyperlink" Target="https://un.china-mission.gov.cn/chn/zgylhg/jsyfz/202407/t20240702_11445457.htm" TargetMode="External" Id="R35ead7f201a54438" /><Relationship Type="http://schemas.openxmlformats.org/officeDocument/2006/relationships/hyperlink" Target="https://www.undp.org/pakistan/press-releases/undp-and-government-peoples-republic-china-launch-tailored-intelligence-actionable-early-warning-systems-project-strengthen" TargetMode="External" Id="R8fb1f8274e234d8a" /><Relationship Type="http://schemas.openxmlformats.org/officeDocument/2006/relationships/hyperlink" Target="https://unfccc.int/zh/guojiazizhugongxian-ndc-zixun/balixieding" TargetMode="External" Id="R409ca4187be44d97" /><Relationship Type="http://schemas.openxmlformats.org/officeDocument/2006/relationships/notesSlide" Target="/ppt/notesSlides/notesSlide11.xml" Id="R728c3d8d9105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372A4-0FF6-47E8-9DDE-741223E7E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60b2c44434645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2-1">
            <a:extLst xmlns:a="http://schemas.openxmlformats.org/drawingml/2006/main">
              <a:ext uri="{FF2B5EF4-FFF2-40B4-BE49-F238E27FC236}">
                <a16:creationId xmlns:a16="http://schemas.microsoft.com/office/drawing/2014/main" id="{86365BFD-0F67-49DF-ACAE-C7FE5FC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rPr>
              <a:t>全球治理</a:t>
            </a:r>
          </a:p>
        </p:txBody>
      </p:sp>
      <p:sp>
        <p:nvSpPr>
          <p:cNvPr id="3" name="layout-2">
            <a:extLst xmlns:a="http://schemas.openxmlformats.org/drawingml/2006/main">
              <a:ext uri="{FF2B5EF4-FFF2-40B4-BE49-F238E27FC236}">
                <a16:creationId xmlns:a16="http://schemas.microsoft.com/office/drawing/2014/main" id="{8E7A1151-270F-4F72-8240-B211B2F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780"/>
          </a:solidFill>
          <a:ln xmlns:a="http://schemas.openxmlformats.org/drawingml/2006/main" w="0">
            <a:noFill/>
          </a:ln>
        </p:spPr>
      </p:sp>
      <p:sp>
        <p:nvSpPr>
          <p:cNvPr id="4" name="v2-3">
            <a:extLst xmlns:a="http://schemas.openxmlformats.org/drawingml/2006/main">
              <a:ext uri="{FF2B5EF4-FFF2-40B4-BE49-F238E27FC236}">
                <a16:creationId xmlns:a16="http://schemas.microsoft.com/office/drawing/2014/main" id="{50D76826-DB06-4C50-80CA-03C064A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6305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奉行主权平等</a:t>
            </a:r>
          </a:p>
        </p:txBody>
      </p:sp>
      <p:sp>
        <p:nvSpPr>
          <p:cNvPr id="5" name="v2-4">
            <a:extLst xmlns:a="http://schemas.openxmlformats.org/drawingml/2006/main">
              <a:ext uri="{FF2B5EF4-FFF2-40B4-BE49-F238E27FC236}">
                <a16:creationId xmlns:a16="http://schemas.microsoft.com/office/drawing/2014/main" id="{0CF0EEC7-65BD-4EC3-93FF-BC26556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26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推进共同参与的</a:t>
            </a:r>
          </a:p>
        </p:txBody>
      </p:sp>
      <p:sp>
        <p:nvSpPr>
          <p:cNvPr id="6" name="v2-5">
            <a:extLst xmlns:a="http://schemas.openxmlformats.org/drawingml/2006/main">
              <a:ext uri="{FF2B5EF4-FFF2-40B4-BE49-F238E27FC236}">
                <a16:creationId xmlns:a16="http://schemas.microsoft.com/office/drawing/2014/main" id="{6A4E9842-EE08-42B6-9C1C-1DE7086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609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pPr>
            <a:r>
              <a: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rPr>
              <a:t>全球治理</a:t>
            </a:r>
          </a:p>
        </p:txBody>
      </p:sp>
      <p:sp>
        <p:nvSpPr>
          <p:cNvPr id="7" name="v2-6">
            <a:extLst xmlns:a="http://schemas.openxmlformats.org/drawingml/2006/main">
              <a:ext uri="{FF2B5EF4-FFF2-40B4-BE49-F238E27FC236}">
                <a16:creationId xmlns:a16="http://schemas.microsoft.com/office/drawing/2014/main" id="{CA8DB5D5-9B73-4B2E-AD4F-7EF2EB5F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主权地位平等</a:t>
            </a:r>
          </a:p>
        </p:txBody>
      </p:sp>
      <p:sp>
        <p:nvSpPr>
          <p:cNvPr id="8" name="v2-7">
            <a:extLst xmlns:a="http://schemas.openxmlformats.org/drawingml/2006/main">
              <a:ext uri="{FF2B5EF4-FFF2-40B4-BE49-F238E27FC236}">
                <a16:creationId xmlns:a16="http://schemas.microsoft.com/office/drawing/2014/main" id="{CBF7C409-6669-41D8-B07F-1D52C79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合作回应共同利益</a:t>
            </a:r>
          </a:p>
        </p:txBody>
      </p:sp>
      <p:sp>
        <p:nvSpPr>
          <p:cNvPr id="9" name="v2-8">
            <a:extLst xmlns:a="http://schemas.openxmlformats.org/drawingml/2006/main">
              <a:ext uri="{FF2B5EF4-FFF2-40B4-BE49-F238E27FC236}">
                <a16:creationId xmlns:a16="http://schemas.microsoft.com/office/drawing/2014/main" id="{CF649227-5A30-4DF8-9614-2616408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rPr>
              <a:t>课堂主题演讲</a:t>
            </a:r>
          </a:p>
        </p:txBody>
      </p:sp>
    </p:spTree>
    <p:extLst>
      <p:ext uri="{BB962C8B-B14F-4D97-AF65-F5344CB8AC3E}">
        <p14:creationId xmlns:p14="http://schemas.microsoft.com/office/powerpoint/2010/main" val="1819258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9">
            <a:extLst xmlns:a="http://schemas.openxmlformats.org/drawingml/2006/main">
              <a:ext uri="{FF2B5EF4-FFF2-40B4-BE49-F238E27FC236}">
                <a16:creationId xmlns:a16="http://schemas.microsoft.com/office/drawing/2014/main" id="{86E89D40-92E9-44A9-93FD-0B803D4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问题缘起</a:t>
            </a:r>
          </a:p>
        </p:txBody>
      </p:sp>
      <p:sp>
        <p:nvSpPr>
          <p:cNvPr id="2" name="v2-10">
            <a:extLst xmlns:a="http://schemas.openxmlformats.org/drawingml/2006/main">
              <a:ext uri="{FF2B5EF4-FFF2-40B4-BE49-F238E27FC236}">
                <a16:creationId xmlns:a16="http://schemas.microsoft.com/office/drawing/2014/main" id="{299205FB-DB78-49F2-88DA-3D5D4D0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共同挑战与共同治理</a:t>
            </a:r>
          </a:p>
        </p:txBody>
      </p:sp>
      <p:sp>
        <p:nvSpPr>
          <p:cNvPr id="3" name="layout-11">
            <a:extLst xmlns:a="http://schemas.openxmlformats.org/drawingml/2006/main">
              <a:ext uri="{FF2B5EF4-FFF2-40B4-BE49-F238E27FC236}">
                <a16:creationId xmlns:a16="http://schemas.microsoft.com/office/drawing/2014/main" id="{9544B404-E6B9-46F1-AD67-D45106F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2">
            <a:extLst xmlns:a="http://schemas.openxmlformats.org/drawingml/2006/main">
              <a:ext uri="{FF2B5EF4-FFF2-40B4-BE49-F238E27FC236}">
                <a16:creationId xmlns:a16="http://schemas.microsoft.com/office/drawing/2014/main" id="{5835E9B8-4195-438B-A0A9-89998F4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跨越国界的问题，需要共同应对</a:t>
            </a:r>
          </a:p>
        </p:txBody>
      </p:sp>
      <p:sp>
        <p:nvSpPr>
          <p:cNvPr id="5" name="v2-13">
            <a:extLst xmlns:a="http://schemas.openxmlformats.org/drawingml/2006/main">
              <a:ext uri="{FF2B5EF4-FFF2-40B4-BE49-F238E27FC236}">
                <a16:creationId xmlns:a16="http://schemas.microsoft.com/office/drawing/2014/main" id="{E9981121-DB6B-46B5-99AB-0849D1FE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93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全球治理可以理解为：各国通过国际组织、共同规则与合作行动，</a:t>
            </a:r>
          </a:p>
        </p:txBody>
      </p:sp>
      <p:sp>
        <p:nvSpPr>
          <p:cNvPr id="6" name="v2-14">
            <a:extLst xmlns:a="http://schemas.openxmlformats.org/drawingml/2006/main">
              <a:ext uri="{FF2B5EF4-FFF2-40B4-BE49-F238E27FC236}">
                <a16:creationId xmlns:a16="http://schemas.microsoft.com/office/drawing/2014/main" id="{CA0849B4-AA60-4E56-A28F-B99FD09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093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协调跨国问题，回应共同利益，并在协商中明确权利与责任。</a:t>
            </a:r>
          </a:p>
        </p:txBody>
      </p:sp>
      <p:sp>
        <p:nvSpPr>
          <p:cNvPr id="7" name="layout-15">
            <a:extLst xmlns:a="http://schemas.openxmlformats.org/drawingml/2006/main">
              <a:ext uri="{FF2B5EF4-FFF2-40B4-BE49-F238E27FC236}">
                <a16:creationId xmlns:a16="http://schemas.microsoft.com/office/drawing/2014/main" id="{25BDEADC-9C1F-4E33-9594-43EB079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v2-16">
            <a:extLst xmlns:a="http://schemas.openxmlformats.org/drawingml/2006/main">
              <a:ext uri="{FF2B5EF4-FFF2-40B4-BE49-F238E27FC236}">
                <a16:creationId xmlns:a16="http://schemas.microsoft.com/office/drawing/2014/main" id="{03E0589B-EBAF-4953-9A2C-FACD266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气候变化</a:t>
            </a:r>
          </a:p>
        </p:txBody>
      </p:sp>
      <p:sp>
        <p:nvSpPr>
          <p:cNvPr id="9" name="v2-17">
            <a:extLst xmlns:a="http://schemas.openxmlformats.org/drawingml/2006/main">
              <a:ext uri="{FF2B5EF4-FFF2-40B4-BE49-F238E27FC236}">
                <a16:creationId xmlns:a16="http://schemas.microsoft.com/office/drawing/2014/main" id="{96222994-86CC-4061-97FE-B341DD2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排放与气候风险跨越国界，单一国家的行动</a:t>
            </a:r>
          </a:p>
        </p:txBody>
      </p:sp>
      <p:sp>
        <p:nvSpPr>
          <p:cNvPr id="10" name="v2-18">
            <a:extLst xmlns:a="http://schemas.openxmlformats.org/drawingml/2006/main">
              <a:ext uri="{FF2B5EF4-FFF2-40B4-BE49-F238E27FC236}">
                <a16:creationId xmlns:a16="http://schemas.microsoft.com/office/drawing/2014/main" id="{D87AEE0D-A7B8-46A5-A6E9-E30F97C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需要与国际合作衔接。不同国家的脆弱处境，</a:t>
            </a:r>
          </a:p>
        </p:txBody>
      </p:sp>
      <p:sp>
        <p:nvSpPr>
          <p:cNvPr id="11" name="v2-19">
            <a:extLst xmlns:a="http://schemas.openxmlformats.org/drawingml/2006/main">
              <a:ext uri="{FF2B5EF4-FFF2-40B4-BE49-F238E27FC236}">
                <a16:creationId xmlns:a16="http://schemas.microsoft.com/office/drawing/2014/main" id="{3C2D090B-975F-4812-B64C-C76B604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也应进入议题与方案的形成过程。</a:t>
            </a:r>
          </a:p>
        </p:txBody>
      </p:sp>
      <p:sp>
        <p:nvSpPr>
          <p:cNvPr id="12" name="v2-20">
            <a:extLst xmlns:a="http://schemas.openxmlformats.org/drawingml/2006/main">
              <a:ext uri="{FF2B5EF4-FFF2-40B4-BE49-F238E27FC236}">
                <a16:creationId xmlns:a16="http://schemas.microsoft.com/office/drawing/2014/main" id="{661861AB-0F0E-492F-916A-48383F3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>
        <p:nvSpPr>
          <p:cNvPr id="13" name="v2-21">
            <a:extLst xmlns:a="http://schemas.openxmlformats.org/drawingml/2006/main">
              <a:ext uri="{FF2B5EF4-FFF2-40B4-BE49-F238E27FC236}">
                <a16:creationId xmlns:a16="http://schemas.microsoft.com/office/drawing/2014/main" id="{CE57926C-4172-4DFD-85A1-71C9B862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24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技术发展关联各国的发展机会与安全关切。</a:t>
            </a:r>
          </a:p>
        </p:txBody>
      </p:sp>
      <p:sp>
        <p:nvSpPr>
          <p:cNvPr id="14" name="v2-22">
            <a:extLst xmlns:a="http://schemas.openxmlformats.org/drawingml/2006/main">
              <a:ext uri="{FF2B5EF4-FFF2-40B4-BE49-F238E27FC236}">
                <a16:creationId xmlns:a16="http://schemas.microsoft.com/office/drawing/2014/main" id="{D02F7CC0-0E56-4717-BD10-E24522D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规则讨论需要更广泛的参与，也需要支持</a:t>
            </a:r>
          </a:p>
        </p:txBody>
      </p:sp>
      <p:sp>
        <p:nvSpPr>
          <p:cNvPr id="15" name="v2-23">
            <a:extLst xmlns:a="http://schemas.openxmlformats.org/drawingml/2006/main">
              <a:ext uri="{FF2B5EF4-FFF2-40B4-BE49-F238E27FC236}">
                <a16:creationId xmlns:a16="http://schemas.microsoft.com/office/drawing/2014/main" id="{0BD0FE86-3994-4B7D-8166-C4084A7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292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发展中国家提升专业与技术能力。</a:t>
            </a:r>
          </a:p>
        </p:txBody>
      </p:sp>
      <p:sp>
        <p:nvSpPr>
          <p:cNvPr id="16" name="layout-24">
            <a:extLst xmlns:a="http://schemas.openxmlformats.org/drawingml/2006/main">
              <a:ext uri="{FF2B5EF4-FFF2-40B4-BE49-F238E27FC236}">
                <a16:creationId xmlns:a16="http://schemas.microsoft.com/office/drawing/2014/main" id="{EF74B9D6-EB9C-4A12-9D3F-DDE7F51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25">
            <a:extLst xmlns:a="http://schemas.openxmlformats.org/drawingml/2006/main">
              <a:ext uri="{FF2B5EF4-FFF2-40B4-BE49-F238E27FC236}">
                <a16:creationId xmlns:a16="http://schemas.microsoft.com/office/drawing/2014/main" id="{64FB369A-D2F9-4186-86ED-9C947B6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[6] UNFCCC《巴黎协定》</a:t>
            </a:r>
          </a:p>
        </p:txBody>
      </p:sp>
      <p:sp>
        <p:nvSpPr>
          <p:cNvPr id="18" name="v2-26">
            <a:extLst xmlns:a="http://schemas.openxmlformats.org/drawingml/2006/main">
              <a:ext uri="{FF2B5EF4-FFF2-40B4-BE49-F238E27FC236}">
                <a16:creationId xmlns:a16="http://schemas.microsoft.com/office/drawing/2014/main" id="{100D2CF2-6B71-497E-8B7B-1190BF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3949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27">
            <a:extLst xmlns:a="http://schemas.openxmlformats.org/drawingml/2006/main">
              <a:ext uri="{FF2B5EF4-FFF2-40B4-BE49-F238E27FC236}">
                <a16:creationId xmlns:a16="http://schemas.microsoft.com/office/drawing/2014/main" id="{EB3B4F6F-9B4C-4A52-AC04-B38C119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原则基础</a:t>
            </a:r>
          </a:p>
        </p:txBody>
      </p:sp>
      <p:sp>
        <p:nvSpPr>
          <p:cNvPr id="2" name="v2-28">
            <a:extLst xmlns:a="http://schemas.openxmlformats.org/drawingml/2006/main">
              <a:ext uri="{FF2B5EF4-FFF2-40B4-BE49-F238E27FC236}">
                <a16:creationId xmlns:a16="http://schemas.microsoft.com/office/drawing/2014/main" id="{5585BD47-075F-45DF-8C1E-EF05BA0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主权平等的制度起点</a:t>
            </a:r>
          </a:p>
        </p:txBody>
      </p:sp>
      <p:sp>
        <p:nvSpPr>
          <p:cNvPr id="3" name="layout-29">
            <a:extLst xmlns:a="http://schemas.openxmlformats.org/drawingml/2006/main">
              <a:ext uri="{FF2B5EF4-FFF2-40B4-BE49-F238E27FC236}">
                <a16:creationId xmlns:a16="http://schemas.microsoft.com/office/drawing/2014/main" id="{E1B59518-D413-465E-A5AD-35899D5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layout-30">
            <a:extLst xmlns:a="http://schemas.openxmlformats.org/drawingml/2006/main">
              <a:ext uri="{FF2B5EF4-FFF2-40B4-BE49-F238E27FC236}">
                <a16:creationId xmlns:a16="http://schemas.microsoft.com/office/drawing/2014/main" id="{434DD4FE-F14C-4BF5-904F-B07B95A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32"/>
          </a:solidFill>
          <a:ln xmlns:a="http://schemas.openxmlformats.org/drawingml/2006/main" w="0">
            <a:noFill/>
          </a:ln>
        </p:spPr>
      </p:sp>
      <p:sp>
        <p:nvSpPr>
          <p:cNvPr id="5" name="v2-31">
            <a:extLst xmlns:a="http://schemas.openxmlformats.org/drawingml/2006/main">
              <a:ext uri="{FF2B5EF4-FFF2-40B4-BE49-F238E27FC236}">
                <a16:creationId xmlns:a16="http://schemas.microsoft.com/office/drawing/2014/main" id="{1E050EEF-5C4F-4A6A-ADBF-EF64F2F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“本组织系基于各会员国主权平等之原则。”</a:t>
            </a:r>
          </a:p>
        </p:txBody>
      </p:sp>
      <p:sp>
        <p:nvSpPr>
          <p:cNvPr id="6" name="v2-32">
            <a:extLst xmlns:a="http://schemas.openxmlformats.org/drawingml/2006/main">
              <a:ext uri="{FF2B5EF4-FFF2-40B4-BE49-F238E27FC236}">
                <a16:creationId xmlns:a16="http://schemas.microsoft.com/office/drawing/2014/main" id="{957350F5-1797-4707-A273-F5BC0BC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rPr>
              <a:t>《联合国宪章》第二条第一项</a:t>
            </a:r>
          </a:p>
        </p:txBody>
      </p:sp>
      <p:sp>
        <p:nvSpPr>
          <p:cNvPr id="7" name="v2-33">
            <a:extLst xmlns:a="http://schemas.openxmlformats.org/drawingml/2006/main">
              <a:ext uri="{FF2B5EF4-FFF2-40B4-BE49-F238E27FC236}">
                <a16:creationId xmlns:a16="http://schemas.microsoft.com/office/drawing/2014/main" id="{AC9CD82F-8B42-466B-839E-FC91C4F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平等的主权地位</a:t>
            </a:r>
          </a:p>
        </p:txBody>
      </p:sp>
      <p:sp>
        <p:nvSpPr>
          <p:cNvPr id="8" name="v2-34">
            <a:extLst xmlns:a="http://schemas.openxmlformats.org/drawingml/2006/main">
              <a:ext uri="{FF2B5EF4-FFF2-40B4-BE49-F238E27FC236}">
                <a16:creationId xmlns:a16="http://schemas.microsoft.com/office/drawing/2014/main" id="{56A9B3AA-CD2D-47CE-BBD8-0C2AD24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各国的国土、人口与经济规模可以不同，</a:t>
            </a:r>
          </a:p>
        </p:txBody>
      </p:sp>
      <p:sp>
        <p:nvSpPr>
          <p:cNvPr id="9" name="v2-35">
            <a:extLst xmlns:a="http://schemas.openxmlformats.org/drawingml/2006/main">
              <a:ext uri="{FF2B5EF4-FFF2-40B4-BE49-F238E27FC236}">
                <a16:creationId xmlns:a16="http://schemas.microsoft.com/office/drawing/2014/main" id="{BF0FD800-B930-44F0-9D61-E9436EE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86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主权与尊严都应得到尊重。各国自主选择</a:t>
            </a:r>
          </a:p>
        </p:txBody>
      </p:sp>
      <p:sp>
        <p:nvSpPr>
          <p:cNvPr id="10" name="v2-36">
            <a:extLst xmlns:a="http://schemas.openxmlformats.org/drawingml/2006/main">
              <a:ext uri="{FF2B5EF4-FFF2-40B4-BE49-F238E27FC236}">
                <a16:creationId xmlns:a16="http://schemas.microsoft.com/office/drawing/2014/main" id="{A4BC23C1-5929-4418-A2F5-D6566072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29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社会制度与发展道路的权利同样受到尊重。</a:t>
            </a:r>
          </a:p>
        </p:txBody>
      </p:sp>
      <p:sp>
        <p:nvSpPr>
          <p:cNvPr id="11" name="v2-37">
            <a:extLst xmlns:a="http://schemas.openxmlformats.org/drawingml/2006/main">
              <a:ext uri="{FF2B5EF4-FFF2-40B4-BE49-F238E27FC236}">
                <a16:creationId xmlns:a16="http://schemas.microsoft.com/office/drawing/2014/main" id="{54DEC7B7-DD5A-4941-985E-C6A2307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相互尊重与履行义务</a:t>
            </a:r>
          </a:p>
        </p:txBody>
      </p:sp>
      <p:sp>
        <p:nvSpPr>
          <p:cNvPr id="12" name="v2-38">
            <a:extLst xmlns:a="http://schemas.openxmlformats.org/drawingml/2006/main">
              <a:ext uri="{FF2B5EF4-FFF2-40B4-BE49-F238E27FC236}">
                <a16:creationId xmlns:a16="http://schemas.microsoft.com/office/drawing/2014/main" id="{F7755A1E-8BEA-4304-A4FA-63F44434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434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各国也要尊重其他国家，履行国际义务。</a:t>
            </a:r>
          </a:p>
        </p:txBody>
      </p:sp>
      <p:sp>
        <p:nvSpPr>
          <p:cNvPr id="13" name="v2-39">
            <a:extLst xmlns:a="http://schemas.openxmlformats.org/drawingml/2006/main">
              <a:ext uri="{FF2B5EF4-FFF2-40B4-BE49-F238E27FC236}">
                <a16:creationId xmlns:a16="http://schemas.microsoft.com/office/drawing/2014/main" id="{D1CE0A4C-5367-4728-B7D4-0C0179F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863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平等地位为协商合作提供基础，具体责任</a:t>
            </a:r>
          </a:p>
        </p:txBody>
      </p:sp>
      <p:sp>
        <p:nvSpPr>
          <p:cNvPr id="14" name="v2-40">
            <a:extLst xmlns:a="http://schemas.openxmlformats.org/drawingml/2006/main">
              <a:ext uri="{FF2B5EF4-FFF2-40B4-BE49-F238E27FC236}">
                <a16:creationId xmlns:a16="http://schemas.microsoft.com/office/drawing/2014/main" id="{279FDF6B-99D1-49D0-B29F-C26A43AA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292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则需要结合承诺、能力与不同国情理解。</a:t>
            </a:r>
          </a:p>
        </p:txBody>
      </p:sp>
      <p:sp>
        <p:nvSpPr>
          <p:cNvPr id="15" name="layout-41">
            <a:extLst xmlns:a="http://schemas.openxmlformats.org/drawingml/2006/main">
              <a:ext uri="{FF2B5EF4-FFF2-40B4-BE49-F238E27FC236}">
                <a16:creationId xmlns:a16="http://schemas.microsoft.com/office/drawing/2014/main" id="{C5E0EAD2-37A2-419D-ACC2-F506E3C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42">
            <a:extLst xmlns:a="http://schemas.openxmlformats.org/drawingml/2006/main">
              <a:ext uri="{FF2B5EF4-FFF2-40B4-BE49-F238E27FC236}">
                <a16:creationId xmlns:a16="http://schemas.microsoft.com/office/drawing/2014/main" id="{64B70830-71A8-4BD7-8FE3-EECB5DE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[1] 《联合国宪章》第二条　[2] 《全球治理倡议概念文件》</a:t>
            </a:r>
          </a:p>
        </p:txBody>
      </p:sp>
      <p:sp>
        <p:nvSpPr>
          <p:cNvPr id="17" name="v2-43">
            <a:extLst xmlns:a="http://schemas.openxmlformats.org/drawingml/2006/main">
              <a:ext uri="{FF2B5EF4-FFF2-40B4-BE49-F238E27FC236}">
                <a16:creationId xmlns:a16="http://schemas.microsoft.com/office/drawing/2014/main" id="{65D56E1D-8CE5-4201-8DE4-429E26F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4822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2-44">
            <a:extLst xmlns:a="http://schemas.openxmlformats.org/drawingml/2006/main">
              <a:ext uri="{FF2B5EF4-FFF2-40B4-BE49-F238E27FC236}">
                <a16:creationId xmlns:a16="http://schemas.microsoft.com/office/drawing/2014/main" id="{D004958F-52F5-4D88-A70E-5F95BF2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核心内涵</a:t>
            </a:r>
          </a:p>
        </p:txBody>
      </p:sp>
      <p:sp>
        <p:nvSpPr>
          <p:cNvPr id="2" name="v2-45">
            <a:extLst xmlns:a="http://schemas.openxmlformats.org/drawingml/2006/main">
              <a:ext uri="{FF2B5EF4-FFF2-40B4-BE49-F238E27FC236}">
                <a16:creationId xmlns:a16="http://schemas.microsoft.com/office/drawing/2014/main" id="{E29329F9-DA9E-4385-A83E-1E95F1A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主权平等的三层含义</a:t>
            </a:r>
          </a:p>
        </p:txBody>
      </p:sp>
      <p:sp>
        <p:nvSpPr>
          <p:cNvPr id="3" name="layout-46">
            <a:extLst xmlns:a="http://schemas.openxmlformats.org/drawingml/2006/main">
              <a:ext uri="{FF2B5EF4-FFF2-40B4-BE49-F238E27FC236}">
                <a16:creationId xmlns:a16="http://schemas.microsoft.com/office/drawing/2014/main" id="{4E4CEEE9-C61A-444A-A508-5B671D2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47">
            <a:extLst xmlns:a="http://schemas.openxmlformats.org/drawingml/2006/main">
              <a:ext uri="{FF2B5EF4-FFF2-40B4-BE49-F238E27FC236}">
                <a16:creationId xmlns:a16="http://schemas.microsoft.com/office/drawing/2014/main" id="{151EDE39-54CA-4EDC-AAF8-C14FC63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各国无论大小、强弱、贫富，都应在全球治理中平等参与、平等决策、平等受益。</a:t>
            </a:r>
          </a:p>
        </p:txBody>
      </p:sp>
      <p:sp>
        <p:nvSpPr>
          <p:cNvPr id="5" name="layout-48">
            <a:extLst xmlns:a="http://schemas.openxmlformats.org/drawingml/2006/main">
              <a:ext uri="{FF2B5EF4-FFF2-40B4-BE49-F238E27FC236}">
                <a16:creationId xmlns:a16="http://schemas.microsoft.com/office/drawing/2014/main" id="{9D8F8BCB-8B5C-4114-A76E-82D2544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6" name="v2-49">
            <a:extLst xmlns:a="http://schemas.openxmlformats.org/drawingml/2006/main">
              <a:ext uri="{FF2B5EF4-FFF2-40B4-BE49-F238E27FC236}">
                <a16:creationId xmlns:a16="http://schemas.microsoft.com/office/drawing/2014/main" id="{E33DE6E9-DCBE-4C35-AA37-B6A27EE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v2-50">
            <a:extLst xmlns:a="http://schemas.openxmlformats.org/drawingml/2006/main">
              <a:ext uri="{FF2B5EF4-FFF2-40B4-BE49-F238E27FC236}">
                <a16:creationId xmlns:a16="http://schemas.microsoft.com/office/drawing/2014/main" id="{0EBF8F5E-3B82-413B-B949-5F5EFB3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平等参与</a:t>
            </a:r>
          </a:p>
        </p:txBody>
      </p:sp>
      <p:sp>
        <p:nvSpPr>
          <p:cNvPr id="8" name="v2-51">
            <a:extLst xmlns:a="http://schemas.openxmlformats.org/drawingml/2006/main">
              <a:ext uri="{FF2B5EF4-FFF2-40B4-BE49-F238E27FC236}">
                <a16:creationId xmlns:a16="http://schemas.microsoft.com/office/drawing/2014/main" id="{EE7258BD-F62F-4E8D-84B2-855A5FD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表达诉求的机会</a:t>
            </a:r>
          </a:p>
        </p:txBody>
      </p:sp>
      <p:sp>
        <p:nvSpPr>
          <p:cNvPr id="9" name="v2-52">
            <a:extLst xmlns:a="http://schemas.openxmlformats.org/drawingml/2006/main">
              <a:ext uri="{FF2B5EF4-FFF2-40B4-BE49-F238E27FC236}">
                <a16:creationId xmlns:a16="http://schemas.microsoft.com/office/drawing/2014/main" id="{2F4688F0-4D1D-4FC3-99E1-3D14FCC4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各国都应有参与全球事务讨论的</a:t>
            </a:r>
          </a:p>
        </p:txBody>
      </p:sp>
      <p:sp>
        <p:nvSpPr>
          <p:cNvPr id="10" name="v2-53">
            <a:extLst xmlns:a="http://schemas.openxmlformats.org/drawingml/2006/main">
              <a:ext uri="{FF2B5EF4-FFF2-40B4-BE49-F238E27FC236}">
                <a16:creationId xmlns:a16="http://schemas.microsoft.com/office/drawing/2014/main" id="{8AC72145-7B5F-48DD-8CAE-FA170BFD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机会，特别需要关注发展中国家</a:t>
            </a:r>
          </a:p>
        </p:txBody>
      </p:sp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8E0AC414-BAD5-47C1-A079-AC1CEEB6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和脆弱国家的实际处境。</a:t>
            </a:r>
          </a:p>
        </p:txBody>
      </p:sp>
      <p:sp>
        <p:nvSpPr>
          <p:cNvPr id="12" name="v2-55">
            <a:extLst xmlns:a="http://schemas.openxmlformats.org/drawingml/2006/main">
              <a:ext uri="{FF2B5EF4-FFF2-40B4-BE49-F238E27FC236}">
                <a16:creationId xmlns:a16="http://schemas.microsoft.com/office/drawing/2014/main" id="{D47D64E8-9675-4FA1-B45D-80E19C5F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例如：气候讨论应听到</a:t>
            </a:r>
          </a:p>
        </p:txBody>
      </p:sp>
      <p:sp>
        <p:nvSpPr>
          <p:cNvPr id="13" name="v2-56">
            <a:extLst xmlns:a="http://schemas.openxmlformats.org/drawingml/2006/main">
              <a:ext uri="{FF2B5EF4-FFF2-40B4-BE49-F238E27FC236}">
                <a16:creationId xmlns:a16="http://schemas.microsoft.com/office/drawing/2014/main" id="{EAA0EF88-767C-4DE8-9BFE-82F322FD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小岛国对海平面上升的关切。</a:t>
            </a:r>
          </a:p>
        </p:txBody>
      </p:sp>
      <p:sp>
        <p:nvSpPr>
          <p:cNvPr id="14" name="layout-57">
            <a:extLst xmlns:a="http://schemas.openxmlformats.org/drawingml/2006/main">
              <a:ext uri="{FF2B5EF4-FFF2-40B4-BE49-F238E27FC236}">
                <a16:creationId xmlns:a16="http://schemas.microsoft.com/office/drawing/2014/main" id="{F9168FB2-BCE8-4822-B02B-E5E2F74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15" name="v2-58">
            <a:extLst xmlns:a="http://schemas.openxmlformats.org/drawingml/2006/main">
              <a:ext uri="{FF2B5EF4-FFF2-40B4-BE49-F238E27FC236}">
                <a16:creationId xmlns:a16="http://schemas.microsoft.com/office/drawing/2014/main" id="{B7E64449-E2DC-4629-AE3D-A0ECFCE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v2-59">
            <a:extLst xmlns:a="http://schemas.openxmlformats.org/drawingml/2006/main">
              <a:ext uri="{FF2B5EF4-FFF2-40B4-BE49-F238E27FC236}">
                <a16:creationId xmlns:a16="http://schemas.microsoft.com/office/drawing/2014/main" id="{4593A798-4E7D-40E6-A9C9-C02E441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平等决策</a:t>
            </a:r>
          </a:p>
        </p:txBody>
      </p:sp>
      <p:sp>
        <p:nvSpPr>
          <p:cNvPr id="17" name="v2-60">
            <a:extLst xmlns:a="http://schemas.openxmlformats.org/drawingml/2006/main">
              <a:ext uri="{FF2B5EF4-FFF2-40B4-BE49-F238E27FC236}">
                <a16:creationId xmlns:a16="http://schemas.microsoft.com/office/drawing/2014/main" id="{DABE3E40-AD16-4030-B432-4A4AD4B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规则形成中的尊重</a:t>
            </a:r>
          </a:p>
        </p:txBody>
      </p:sp>
      <p:sp>
        <p:nvSpPr>
          <p:cNvPr id="18" name="v2-61">
            <a:extLst xmlns:a="http://schemas.openxmlformats.org/drawingml/2006/main">
              <a:ext uri="{FF2B5EF4-FFF2-40B4-BE49-F238E27FC236}">
                <a16:creationId xmlns:a16="http://schemas.microsoft.com/office/drawing/2014/main" id="{F9E7ADA8-92EA-41F3-A2B8-5F9F370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各国的合理关切应得到尊重，</a:t>
            </a:r>
          </a:p>
        </p:txBody>
      </p:sp>
      <p:sp>
        <p:nvSpPr>
          <p:cNvPr id="19" name="v2-62">
            <a:extLst xmlns:a="http://schemas.openxmlformats.org/drawingml/2006/main">
              <a:ext uri="{FF2B5EF4-FFF2-40B4-BE49-F238E27FC236}">
                <a16:creationId xmlns:a16="http://schemas.microsoft.com/office/drawing/2014/main" id="{E0CBB5D2-0F3D-4E26-90BF-98FEE80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38675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在议题设置与方案设计中形成</a:t>
            </a:r>
          </a:p>
        </p:txBody>
      </p:sp>
      <p:sp>
        <p:nvSpPr>
          <p:cNvPr id="20" name="v2-63">
            <a:extLst xmlns:a="http://schemas.openxmlformats.org/drawingml/2006/main">
              <a:ext uri="{FF2B5EF4-FFF2-40B4-BE49-F238E27FC236}">
                <a16:creationId xmlns:a16="http://schemas.microsoft.com/office/drawing/2014/main" id="{8F500B37-5CFA-424D-9D24-3FFFA62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更充分的协商和更广泛的认同。</a:t>
            </a:r>
          </a:p>
        </p:txBody>
      </p:sp>
      <p:sp>
        <p:nvSpPr>
          <p:cNvPr id="21" name="v2-64">
            <a:extLst xmlns:a="http://schemas.openxmlformats.org/drawingml/2006/main">
              <a:ext uri="{FF2B5EF4-FFF2-40B4-BE49-F238E27FC236}">
                <a16:creationId xmlns:a16="http://schemas.microsoft.com/office/drawing/2014/main" id="{65D2FC06-62F6-44AD-944F-BE109DA3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959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例如：人工智能规则讨论</a:t>
            </a:r>
          </a:p>
        </p:txBody>
      </p:sp>
      <p:sp>
        <p:nvSpPr>
          <p:cNvPr id="22" name="v2-65">
            <a:extLst xmlns:a="http://schemas.openxmlformats.org/drawingml/2006/main">
              <a:ext uri="{FF2B5EF4-FFF2-40B4-BE49-F238E27FC236}">
                <a16:creationId xmlns:a16="http://schemas.microsoft.com/office/drawing/2014/main" id="{9005413B-2C02-484B-9C87-5B1207E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也应纳入发展中国家的需要。</a:t>
            </a:r>
          </a:p>
        </p:txBody>
      </p:sp>
      <p:sp>
        <p:nvSpPr>
          <p:cNvPr id="23" name="layout-66">
            <a:extLst xmlns:a="http://schemas.openxmlformats.org/drawingml/2006/main">
              <a:ext uri="{FF2B5EF4-FFF2-40B4-BE49-F238E27FC236}">
                <a16:creationId xmlns:a16="http://schemas.microsoft.com/office/drawing/2014/main" id="{4F331610-7752-437E-B5D7-7F4E104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24" name="v2-67">
            <a:extLst xmlns:a="http://schemas.openxmlformats.org/drawingml/2006/main">
              <a:ext uri="{FF2B5EF4-FFF2-40B4-BE49-F238E27FC236}">
                <a16:creationId xmlns:a16="http://schemas.microsoft.com/office/drawing/2014/main" id="{619FEA74-5746-42CA-825F-D4166E7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5" name="v2-68">
            <a:extLst xmlns:a="http://schemas.openxmlformats.org/drawingml/2006/main">
              <a:ext uri="{FF2B5EF4-FFF2-40B4-BE49-F238E27FC236}">
                <a16:creationId xmlns:a16="http://schemas.microsoft.com/office/drawing/2014/main" id="{EA2D2B77-4528-4BC7-A60F-521F4E7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平等受益</a:t>
            </a:r>
          </a:p>
        </p:txBody>
      </p:sp>
      <p:sp>
        <p:nvSpPr>
          <p:cNvPr id="26" name="v2-69">
            <a:extLst xmlns:a="http://schemas.openxmlformats.org/drawingml/2006/main">
              <a:ext uri="{FF2B5EF4-FFF2-40B4-BE49-F238E27FC236}">
                <a16:creationId xmlns:a16="http://schemas.microsoft.com/office/drawing/2014/main" id="{29A9AE8D-980B-4F6C-AA10-8D429C5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合作成果的共享</a:t>
            </a:r>
          </a:p>
        </p:txBody>
      </p:sp>
      <p:sp>
        <p:nvSpPr>
          <p:cNvPr id="27" name="v2-70">
            <a:extLst xmlns:a="http://schemas.openxmlformats.org/drawingml/2006/main">
              <a:ext uri="{FF2B5EF4-FFF2-40B4-BE49-F238E27FC236}">
                <a16:creationId xmlns:a16="http://schemas.microsoft.com/office/drawing/2014/main" id="{136027BF-DD35-4958-B6D7-5721904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合作需要回应不同国家人民的</a:t>
            </a:r>
          </a:p>
        </p:txBody>
      </p:sp>
      <p:sp>
        <p:nvSpPr>
          <p:cNvPr id="28" name="v2-71">
            <a:extLst xmlns:a="http://schemas.openxmlformats.org/drawingml/2006/main">
              <a:ext uri="{FF2B5EF4-FFF2-40B4-BE49-F238E27FC236}">
                <a16:creationId xmlns:a16="http://schemas.microsoft.com/office/drawing/2014/main" id="{1C5FEED3-C536-4950-AFA1-5FB4689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38675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生活与发展需要，持续关注</a:t>
            </a:r>
          </a:p>
        </p:txBody>
      </p:sp>
      <p:sp>
        <p:nvSpPr>
          <p:cNvPr id="29" name="v2-72">
            <a:extLst xmlns:a="http://schemas.openxmlformats.org/drawingml/2006/main">
              <a:ext uri="{FF2B5EF4-FFF2-40B4-BE49-F238E27FC236}">
                <a16:creationId xmlns:a16="http://schemas.microsoft.com/office/drawing/2014/main" id="{53BC8689-A6AD-4CBC-8DB6-32C3570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成果能否普惠、运行能否持续。</a:t>
            </a:r>
          </a:p>
        </p:txBody>
      </p:sp>
      <p:sp>
        <p:nvSpPr>
          <p:cNvPr id="30" name="v2-73">
            <a:extLst xmlns:a="http://schemas.openxmlformats.org/drawingml/2006/main">
              <a:ext uri="{FF2B5EF4-FFF2-40B4-BE49-F238E27FC236}">
                <a16:creationId xmlns:a16="http://schemas.microsoft.com/office/drawing/2014/main" id="{3373E2D9-1347-4E64-BA68-CFD1E5A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959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例如：能力建设项目需要</a:t>
            </a:r>
          </a:p>
        </p:txBody>
      </p:sp>
      <p:sp>
        <p:nvSpPr>
          <p:cNvPr id="31" name="v2-74">
            <a:extLst xmlns:a="http://schemas.openxmlformats.org/drawingml/2006/main">
              <a:ext uri="{FF2B5EF4-FFF2-40B4-BE49-F238E27FC236}">
                <a16:creationId xmlns:a16="http://schemas.microsoft.com/office/drawing/2014/main" id="{6D493C03-A16F-4168-B53E-92DA5F8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626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重视本地人才和公共服务。</a:t>
            </a:r>
          </a:p>
        </p:txBody>
      </p:sp>
      <p:sp>
        <p:nvSpPr>
          <p:cNvPr id="32" name="layout-75">
            <a:extLst xmlns:a="http://schemas.openxmlformats.org/drawingml/2006/main">
              <a:ext uri="{FF2B5EF4-FFF2-40B4-BE49-F238E27FC236}">
                <a16:creationId xmlns:a16="http://schemas.microsoft.com/office/drawing/2014/main" id="{85BFB9B6-4A37-46D0-85BB-E79D32C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33" name="v2-76">
            <a:extLst xmlns:a="http://schemas.openxmlformats.org/drawingml/2006/main">
              <a:ext uri="{FF2B5EF4-FFF2-40B4-BE49-F238E27FC236}">
                <a16:creationId xmlns:a16="http://schemas.microsoft.com/office/drawing/2014/main" id="{9EF053A5-BC01-4C4A-931B-1548FCA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34" name="v2-77">
            <a:extLst xmlns:a="http://schemas.openxmlformats.org/drawingml/2006/main">
              <a:ext uri="{FF2B5EF4-FFF2-40B4-BE49-F238E27FC236}">
                <a16:creationId xmlns:a16="http://schemas.microsoft.com/office/drawing/2014/main" id="{DEAA1632-BFAB-46FB-8ACE-4330669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4107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2-78">
            <a:extLst xmlns:a="http://schemas.openxmlformats.org/drawingml/2006/main">
              <a:ext uri="{FF2B5EF4-FFF2-40B4-BE49-F238E27FC236}">
                <a16:creationId xmlns:a16="http://schemas.microsoft.com/office/drawing/2014/main" id="{90863077-6D71-4A53-950A-BBC20EE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原则如何落地</a:t>
            </a:r>
          </a:p>
        </p:txBody>
      </p:sp>
      <p:sp>
        <p:nvSpPr>
          <p:cNvPr id="2" name="v2-79">
            <a:extLst xmlns:a="http://schemas.openxmlformats.org/drawingml/2006/main">
              <a:ext uri="{FF2B5EF4-FFF2-40B4-BE49-F238E27FC236}">
                <a16:creationId xmlns:a16="http://schemas.microsoft.com/office/drawing/2014/main" id="{2E01A679-1D7E-4E38-8849-2B86A2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共同参与的现实门槛</a:t>
            </a:r>
          </a:p>
        </p:txBody>
      </p:sp>
      <p:sp>
        <p:nvSpPr>
          <p:cNvPr id="3" name="layout-80">
            <a:extLst xmlns:a="http://schemas.openxmlformats.org/drawingml/2006/main">
              <a:ext uri="{FF2B5EF4-FFF2-40B4-BE49-F238E27FC236}">
                <a16:creationId xmlns:a16="http://schemas.microsoft.com/office/drawing/2014/main" id="{FC2D2089-9AA9-4A15-8451-6F896AE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81">
            <a:extLst xmlns:a="http://schemas.openxmlformats.org/drawingml/2006/main">
              <a:ext uri="{FF2B5EF4-FFF2-40B4-BE49-F238E27FC236}">
                <a16:creationId xmlns:a16="http://schemas.microsoft.com/office/drawing/2014/main" id="{6A287774-B333-45EE-8DA2-707F98F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参与需要机会，也需要能力</a:t>
            </a:r>
          </a:p>
        </p:txBody>
      </p:sp>
      <p:sp>
        <p:nvSpPr>
          <p:cNvPr id="5" name="v2-82">
            <a:extLst xmlns:a="http://schemas.openxmlformats.org/drawingml/2006/main">
              <a:ext uri="{FF2B5EF4-FFF2-40B4-BE49-F238E27FC236}">
                <a16:creationId xmlns:a16="http://schemas.microsoft.com/office/drawing/2014/main" id="{421DAB57-3849-423D-82E0-ED8B61F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参与机会</a:t>
            </a:r>
          </a:p>
        </p:txBody>
      </p:sp>
      <p:sp>
        <p:nvSpPr>
          <p:cNvPr id="6" name="v2-83">
            <a:extLst xmlns:a="http://schemas.openxmlformats.org/drawingml/2006/main">
              <a:ext uri="{FF2B5EF4-FFF2-40B4-BE49-F238E27FC236}">
                <a16:creationId xmlns:a16="http://schemas.microsoft.com/office/drawing/2014/main" id="{A92D5580-889F-44A0-ACCF-ADD6DE5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代表性与议题设置</a:t>
            </a:r>
          </a:p>
        </p:txBody>
      </p:sp>
      <p:sp>
        <p:nvSpPr>
          <p:cNvPr id="7" name="v2-84">
            <a:extLst xmlns:a="http://schemas.openxmlformats.org/drawingml/2006/main">
              <a:ext uri="{FF2B5EF4-FFF2-40B4-BE49-F238E27FC236}">
                <a16:creationId xmlns:a16="http://schemas.microsoft.com/office/drawing/2014/main" id="{73B4577F-3DF9-44BD-BB52-97A23A24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528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能否进入讨论、提出议题，合理关切能否</a:t>
            </a:r>
          </a:p>
        </p:txBody>
      </p:sp>
      <p:sp>
        <p:nvSpPr>
          <p:cNvPr id="8" name="v2-85">
            <a:extLst xmlns:a="http://schemas.openxmlformats.org/drawingml/2006/main">
              <a:ext uri="{FF2B5EF4-FFF2-40B4-BE49-F238E27FC236}">
                <a16:creationId xmlns:a16="http://schemas.microsoft.com/office/drawing/2014/main" id="{37436CE5-955F-4306-AF34-72BEC5DE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得到回应，关系到参与的实际程度。</a:t>
            </a:r>
          </a:p>
        </p:txBody>
      </p:sp>
      <p:sp>
        <p:nvSpPr>
          <p:cNvPr id="9" name="v2-86">
            <a:extLst xmlns:a="http://schemas.openxmlformats.org/drawingml/2006/main">
              <a:ext uri="{FF2B5EF4-FFF2-40B4-BE49-F238E27FC236}">
                <a16:creationId xmlns:a16="http://schemas.microsoft.com/office/drawing/2014/main" id="{BD2CF874-24E6-4474-A7FF-3CCA4F6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577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提升发展中国家的代表性，需要关注其</a:t>
            </a:r>
          </a:p>
        </p:txBody>
      </p:sp>
      <p:sp>
        <p:nvSpPr>
          <p:cNvPr id="10" name="v2-87">
            <a:extLst xmlns:a="http://schemas.openxmlformats.org/drawingml/2006/main">
              <a:ext uri="{FF2B5EF4-FFF2-40B4-BE49-F238E27FC236}">
                <a16:creationId xmlns:a16="http://schemas.microsoft.com/office/drawing/2014/main" id="{9B1D5D85-053D-47A9-AFC1-83E0ED06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意见能否进入规则与方案的形成过程。</a:t>
            </a:r>
          </a:p>
        </p:txBody>
      </p:sp>
      <p:sp>
        <p:nvSpPr>
          <p:cNvPr id="11" name="v2-88">
            <a:extLst xmlns:a="http://schemas.openxmlformats.org/drawingml/2006/main">
              <a:ext uri="{FF2B5EF4-FFF2-40B4-BE49-F238E27FC236}">
                <a16:creationId xmlns:a16="http://schemas.microsoft.com/office/drawing/2014/main" id="{08F8E94D-C491-415D-822E-9AF147F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参与能力</a:t>
            </a:r>
          </a:p>
        </p:txBody>
      </p:sp>
      <p:sp>
        <p:nvSpPr>
          <p:cNvPr id="12" name="v2-89">
            <a:extLst xmlns:a="http://schemas.openxmlformats.org/drawingml/2006/main">
              <a:ext uri="{FF2B5EF4-FFF2-40B4-BE49-F238E27FC236}">
                <a16:creationId xmlns:a16="http://schemas.microsoft.com/office/drawing/2014/main" id="{5939C670-A873-4062-AFA8-4E81E39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信息、人才与持续协商条件</a:t>
            </a:r>
          </a:p>
        </p:txBody>
      </p:sp>
      <p:sp>
        <p:nvSpPr>
          <p:cNvPr id="13" name="v2-90">
            <a:extLst xmlns:a="http://schemas.openxmlformats.org/drawingml/2006/main">
              <a:ext uri="{FF2B5EF4-FFF2-40B4-BE49-F238E27FC236}">
                <a16:creationId xmlns:a16="http://schemas.microsoft.com/office/drawing/2014/main" id="{21A95EF7-A19C-4625-9BCD-D84BCD7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获取信息、理解复杂规则、组织专业团队，</a:t>
            </a:r>
          </a:p>
        </p:txBody>
      </p:sp>
      <p:sp>
        <p:nvSpPr>
          <p:cNvPr id="14" name="v2-91">
            <a:extLst xmlns:a="http://schemas.openxmlformats.org/drawingml/2006/main">
              <a:ext uri="{FF2B5EF4-FFF2-40B4-BE49-F238E27FC236}">
                <a16:creationId xmlns:a16="http://schemas.microsoft.com/office/drawing/2014/main" id="{0AA80D14-BC93-42F1-AD5D-7429D90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052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都需要资源与长期投入。</a:t>
            </a:r>
          </a:p>
        </p:txBody>
      </p:sp>
      <p:sp>
        <p:nvSpPr>
          <p:cNvPr id="15" name="v2-92">
            <a:extLst xmlns:a="http://schemas.openxmlformats.org/drawingml/2006/main">
              <a:ext uri="{FF2B5EF4-FFF2-40B4-BE49-F238E27FC236}">
                <a16:creationId xmlns:a16="http://schemas.microsoft.com/office/drawing/2014/main" id="{6B02A9E3-B84F-4094-B4AB-FCCA0FB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教育培训、技术支持和知识交流，可以</a:t>
            </a:r>
          </a:p>
        </p:txBody>
      </p:sp>
      <p:sp>
        <p:nvSpPr>
          <p:cNvPr id="16" name="v2-93">
            <a:extLst xmlns:a="http://schemas.openxmlformats.org/drawingml/2006/main">
              <a:ext uri="{FF2B5EF4-FFF2-40B4-BE49-F238E27FC236}">
                <a16:creationId xmlns:a16="http://schemas.microsoft.com/office/drawing/2014/main" id="{DF936E24-B26B-475E-87C8-F9616A9C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0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帮助更多国家形成持续参与的基础。</a:t>
            </a:r>
          </a:p>
        </p:txBody>
      </p:sp>
      <p:sp>
        <p:nvSpPr>
          <p:cNvPr id="17" name="layout-94">
            <a:extLst xmlns:a="http://schemas.openxmlformats.org/drawingml/2006/main">
              <a:ext uri="{FF2B5EF4-FFF2-40B4-BE49-F238E27FC236}">
                <a16:creationId xmlns:a16="http://schemas.microsoft.com/office/drawing/2014/main" id="{00BD498A-B8DF-47DF-ADCB-63A60D2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95">
            <a:extLst xmlns:a="http://schemas.openxmlformats.org/drawingml/2006/main">
              <a:ext uri="{FF2B5EF4-FFF2-40B4-BE49-F238E27FC236}">
                <a16:creationId xmlns:a16="http://schemas.microsoft.com/office/drawing/2014/main" id="{63531305-60A7-4CDC-98BE-92BD6F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观察共同参与：既看能否进入会场，也看能否影响议题、持续行动。</a:t>
            </a:r>
          </a:p>
        </p:txBody>
      </p:sp>
      <p:sp>
        <p:nvSpPr>
          <p:cNvPr id="19" name="layout-96">
            <a:extLst xmlns:a="http://schemas.openxmlformats.org/drawingml/2006/main">
              <a:ext uri="{FF2B5EF4-FFF2-40B4-BE49-F238E27FC236}">
                <a16:creationId xmlns:a16="http://schemas.microsoft.com/office/drawing/2014/main" id="{A1D9BFDD-0B8D-40D3-BA63-56BE72D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0" name="v2-97">
            <a:extLst xmlns:a="http://schemas.openxmlformats.org/drawingml/2006/main">
              <a:ext uri="{FF2B5EF4-FFF2-40B4-BE49-F238E27FC236}">
                <a16:creationId xmlns:a16="http://schemas.microsoft.com/office/drawing/2014/main" id="{79EC57FB-68F0-4501-BB13-EAC44B8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[3] A/RES/78/311</a:t>
            </a:r>
          </a:p>
        </p:txBody>
      </p:sp>
      <p:sp>
        <p:nvSpPr>
          <p:cNvPr id="21" name="v2-98">
            <a:extLst xmlns:a="http://schemas.openxmlformats.org/drawingml/2006/main">
              <a:ext uri="{FF2B5EF4-FFF2-40B4-BE49-F238E27FC236}">
                <a16:creationId xmlns:a16="http://schemas.microsoft.com/office/drawing/2014/main" id="{09DEF28D-2E5B-47AD-A10E-D7E3382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7649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2-99">
            <a:extLst xmlns:a="http://schemas.openxmlformats.org/drawingml/2006/main">
              <a:ext uri="{FF2B5EF4-FFF2-40B4-BE49-F238E27FC236}">
                <a16:creationId xmlns:a16="http://schemas.microsoft.com/office/drawing/2014/main" id="{6CC3FBCC-849E-46AF-ADAE-5C9E3B3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中国倡议</a:t>
            </a:r>
          </a:p>
        </p:txBody>
      </p:sp>
      <p:sp>
        <p:nvSpPr>
          <p:cNvPr id="2" name="v2-100">
            <a:extLst xmlns:a="http://schemas.openxmlformats.org/drawingml/2006/main">
              <a:ext uri="{FF2B5EF4-FFF2-40B4-BE49-F238E27FC236}">
                <a16:creationId xmlns:a16="http://schemas.microsoft.com/office/drawing/2014/main" id="{2D39D280-4624-4F96-B6A2-F8F732C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全球治理倡议的中国主张</a:t>
            </a:r>
          </a:p>
        </p:txBody>
      </p:sp>
      <p:sp>
        <p:nvSpPr>
          <p:cNvPr id="3" name="layout-101">
            <a:extLst xmlns:a="http://schemas.openxmlformats.org/drawingml/2006/main">
              <a:ext uri="{FF2B5EF4-FFF2-40B4-BE49-F238E27FC236}">
                <a16:creationId xmlns:a16="http://schemas.microsoft.com/office/drawing/2014/main" id="{9D8E3A50-CD3D-4C90-9760-F7D6954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02">
            <a:extLst xmlns:a="http://schemas.openxmlformats.org/drawingml/2006/main">
              <a:ext uri="{FF2B5EF4-FFF2-40B4-BE49-F238E27FC236}">
                <a16:creationId xmlns:a16="http://schemas.microsoft.com/office/drawing/2014/main" id="{7B94D815-B90E-49E7-9199-3302E90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2025.09.01</a:t>
            </a:r>
          </a:p>
        </p:txBody>
      </p:sp>
      <p:sp>
        <p:nvSpPr>
          <p:cNvPr id="5" name="v2-103">
            <a:extLst xmlns:a="http://schemas.openxmlformats.org/drawingml/2006/main">
              <a:ext uri="{FF2B5EF4-FFF2-40B4-BE49-F238E27FC236}">
                <a16:creationId xmlns:a16="http://schemas.microsoft.com/office/drawing/2014/main" id="{3203836F-A921-42AA-815D-BFB018C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共商共建共享</a:t>
            </a:r>
          </a:p>
        </p:txBody>
      </p:sp>
      <p:sp>
        <p:nvSpPr>
          <p:cNvPr id="6" name="v2-104">
            <a:extLst xmlns:a="http://schemas.openxmlformats.org/drawingml/2006/main">
              <a:ext uri="{FF2B5EF4-FFF2-40B4-BE49-F238E27FC236}">
                <a16:creationId xmlns:a16="http://schemas.microsoft.com/office/drawing/2014/main" id="{F0125430-B9D9-4868-AE57-D43EE22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在“上海合作组织+”会议上，</a:t>
            </a:r>
          </a:p>
        </p:txBody>
      </p:sp>
      <p:sp>
        <p:nvSpPr>
          <p:cNvPr id="7" name="v2-105">
            <a:extLst xmlns:a="http://schemas.openxmlformats.org/drawingml/2006/main">
              <a:ext uri="{FF2B5EF4-FFF2-40B4-BE49-F238E27FC236}">
                <a16:creationId xmlns:a16="http://schemas.microsoft.com/office/drawing/2014/main" id="{E8B8711E-920C-41EB-AF8E-44090A67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习近平主席提出全球治理倡议。</a:t>
            </a:r>
          </a:p>
        </p:txBody>
      </p:sp>
      <p:sp>
        <p:nvSpPr>
          <p:cNvPr id="8" name="v2-106">
            <a:extLst xmlns:a="http://schemas.openxmlformats.org/drawingml/2006/main">
              <a:ext uri="{FF2B5EF4-FFF2-40B4-BE49-F238E27FC236}">
                <a16:creationId xmlns:a16="http://schemas.microsoft.com/office/drawing/2014/main" id="{32AD572D-6804-45FA-9729-ED2E103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倡议以联合国宪章宗旨和原则</a:t>
            </a:r>
          </a:p>
        </p:txBody>
      </p:sp>
      <p:sp>
        <p:nvSpPr>
          <p:cNvPr id="9" name="v2-107">
            <a:extLst xmlns:a="http://schemas.openxmlformats.org/drawingml/2006/main">
              <a:ext uri="{FF2B5EF4-FFF2-40B4-BE49-F238E27FC236}">
                <a16:creationId xmlns:a16="http://schemas.microsoft.com/office/drawing/2014/main" id="{73E25EB9-5218-4360-8B7C-BD3B884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为基本遵循，主张改革完善</a:t>
            </a:r>
          </a:p>
        </p:txBody>
      </p:sp>
      <p:sp>
        <p:nvSpPr>
          <p:cNvPr id="10" name="v2-108">
            <a:extLst xmlns:a="http://schemas.openxmlformats.org/drawingml/2006/main">
              <a:ext uri="{FF2B5EF4-FFF2-40B4-BE49-F238E27FC236}">
                <a16:creationId xmlns:a16="http://schemas.microsoft.com/office/drawing/2014/main" id="{3992BB3C-E9E1-49F9-8A0E-96B32B42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全球治理，提升发展中国家的</a:t>
            </a:r>
          </a:p>
        </p:txBody>
      </p:sp>
      <p:sp>
        <p:nvSpPr>
          <p:cNvPr id="11" name="v2-109">
            <a:extLst xmlns:a="http://schemas.openxmlformats.org/drawingml/2006/main">
              <a:ext uri="{FF2B5EF4-FFF2-40B4-BE49-F238E27FC236}">
                <a16:creationId xmlns:a16="http://schemas.microsoft.com/office/drawing/2014/main" id="{B1C42439-B154-4A8A-B4E0-DB30FFA7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代表性和发言权。</a:t>
            </a:r>
          </a:p>
        </p:txBody>
      </p:sp>
      <p:sp>
        <p:nvSpPr>
          <p:cNvPr id="12" name="v2-110">
            <a:extLst xmlns:a="http://schemas.openxmlformats.org/drawingml/2006/main">
              <a:ext uri="{FF2B5EF4-FFF2-40B4-BE49-F238E27FC236}">
                <a16:creationId xmlns:a16="http://schemas.microsoft.com/office/drawing/2014/main" id="{516D7E89-86AF-4494-AE15-14C4759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奉行主权平等</a:t>
            </a:r>
          </a:p>
        </p:txBody>
      </p:sp>
      <p:sp>
        <p:nvSpPr>
          <p:cNvPr id="13" name="v2-111">
            <a:extLst xmlns:a="http://schemas.openxmlformats.org/drawingml/2006/main">
              <a:ext uri="{FF2B5EF4-FFF2-40B4-BE49-F238E27FC236}">
                <a16:creationId xmlns:a16="http://schemas.microsoft.com/office/drawing/2014/main" id="{EA2B1FF5-F07B-42B3-8C06-1F24609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保障各国平等参与、平等决策、平等受益</a:t>
            </a:r>
          </a:p>
        </p:txBody>
      </p:sp>
      <p:sp>
        <p:nvSpPr>
          <p:cNvPr id="14" name="layout-112">
            <a:extLst xmlns:a="http://schemas.openxmlformats.org/drawingml/2006/main">
              <a:ext uri="{FF2B5EF4-FFF2-40B4-BE49-F238E27FC236}">
                <a16:creationId xmlns:a16="http://schemas.microsoft.com/office/drawing/2014/main" id="{286EC352-2138-4C42-9D79-FD11B85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5" name="v2-113">
            <a:extLst xmlns:a="http://schemas.openxmlformats.org/drawingml/2006/main">
              <a:ext uri="{FF2B5EF4-FFF2-40B4-BE49-F238E27FC236}">
                <a16:creationId xmlns:a16="http://schemas.microsoft.com/office/drawing/2014/main" id="{6A30F998-21B4-47E8-A378-0E1B6AD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717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遵守国际法治</a:t>
            </a:r>
          </a:p>
        </p:txBody>
      </p:sp>
      <p:sp>
        <p:nvSpPr>
          <p:cNvPr id="16" name="v2-114">
            <a:extLst xmlns:a="http://schemas.openxmlformats.org/drawingml/2006/main">
              <a:ext uri="{FF2B5EF4-FFF2-40B4-BE49-F238E27FC236}">
                <a16:creationId xmlns:a16="http://schemas.microsoft.com/office/drawing/2014/main" id="{1F43F71B-9F4F-4414-A1EF-32EBB9E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推动国际法与国际规则平等统一适用</a:t>
            </a:r>
          </a:p>
        </p:txBody>
      </p:sp>
      <p:sp>
        <p:nvSpPr>
          <p:cNvPr id="17" name="layout-115">
            <a:extLst xmlns:a="http://schemas.openxmlformats.org/drawingml/2006/main">
              <a:ext uri="{FF2B5EF4-FFF2-40B4-BE49-F238E27FC236}">
                <a16:creationId xmlns:a16="http://schemas.microsoft.com/office/drawing/2014/main" id="{F8EC1BB6-B9CE-4743-9FC5-9A9CC22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116">
            <a:extLst xmlns:a="http://schemas.openxmlformats.org/drawingml/2006/main">
              <a:ext uri="{FF2B5EF4-FFF2-40B4-BE49-F238E27FC236}">
                <a16:creationId xmlns:a16="http://schemas.microsoft.com/office/drawing/2014/main" id="{6CE2A372-D69D-48D2-8329-84E8F66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践行多边主义</a:t>
            </a:r>
          </a:p>
        </p:txBody>
      </p:sp>
      <p:sp>
        <p:nvSpPr>
          <p:cNvPr id="19" name="v2-117">
            <a:extLst xmlns:a="http://schemas.openxmlformats.org/drawingml/2006/main">
              <a:ext uri="{FF2B5EF4-FFF2-40B4-BE49-F238E27FC236}">
                <a16:creationId xmlns:a16="http://schemas.microsoft.com/office/drawing/2014/main" id="{E12AFD48-6B5D-472C-8B40-E904D50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维护联合国地位和权威，加强协作</a:t>
            </a:r>
          </a:p>
        </p:txBody>
      </p:sp>
      <p:sp>
        <p:nvSpPr>
          <p:cNvPr id="20" name="layout-118">
            <a:extLst xmlns:a="http://schemas.openxmlformats.org/drawingml/2006/main">
              <a:ext uri="{FF2B5EF4-FFF2-40B4-BE49-F238E27FC236}">
                <a16:creationId xmlns:a16="http://schemas.microsoft.com/office/drawing/2014/main" id="{8A04E5BE-19DC-46CC-BE98-330F6A1D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1" name="v2-119">
            <a:extLst xmlns:a="http://schemas.openxmlformats.org/drawingml/2006/main">
              <a:ext uri="{FF2B5EF4-FFF2-40B4-BE49-F238E27FC236}">
                <a16:creationId xmlns:a16="http://schemas.microsoft.com/office/drawing/2014/main" id="{BBC66CCB-789B-4689-96E3-03465E22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00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倡导以人为本</a:t>
            </a:r>
          </a:p>
        </p:txBody>
      </p:sp>
      <p:sp>
        <p:nvSpPr>
          <p:cNvPr id="22" name="v2-120">
            <a:extLst xmlns:a="http://schemas.openxmlformats.org/drawingml/2006/main">
              <a:ext uri="{FF2B5EF4-FFF2-40B4-BE49-F238E27FC236}">
                <a16:creationId xmlns:a16="http://schemas.microsoft.com/office/drawing/2014/main" id="{7FAB10AB-3E21-4A8B-A36A-D56F76C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回应各国人民的共同利益与发展需要</a:t>
            </a:r>
          </a:p>
        </p:txBody>
      </p:sp>
      <p:sp>
        <p:nvSpPr>
          <p:cNvPr id="23" name="layout-121">
            <a:extLst xmlns:a="http://schemas.openxmlformats.org/drawingml/2006/main">
              <a:ext uri="{FF2B5EF4-FFF2-40B4-BE49-F238E27FC236}">
                <a16:creationId xmlns:a16="http://schemas.microsoft.com/office/drawing/2014/main" id="{FF410DED-993B-4023-853B-D5C85AD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62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4" name="v2-122">
            <a:extLst xmlns:a="http://schemas.openxmlformats.org/drawingml/2006/main">
              <a:ext uri="{FF2B5EF4-FFF2-40B4-BE49-F238E27FC236}">
                <a16:creationId xmlns:a16="http://schemas.microsoft.com/office/drawing/2014/main" id="{989991F2-F422-452F-9566-AB152D0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292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注重行动导向</a:t>
            </a:r>
          </a:p>
        </p:txBody>
      </p:sp>
      <p:sp>
        <p:nvSpPr>
          <p:cNvPr id="25" name="v2-123">
            <a:extLst xmlns:a="http://schemas.openxmlformats.org/drawingml/2006/main">
              <a:ext uri="{FF2B5EF4-FFF2-40B4-BE49-F238E27FC236}">
                <a16:creationId xmlns:a16="http://schemas.microsoft.com/office/drawing/2014/main" id="{7F007648-E072-494B-9622-855ABFD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统筹资源与行动，推动合作形成实际成果</a:t>
            </a:r>
          </a:p>
        </p:txBody>
      </p:sp>
      <p:sp>
        <p:nvSpPr>
          <p:cNvPr id="26" name="layout-124">
            <a:extLst xmlns:a="http://schemas.openxmlformats.org/drawingml/2006/main">
              <a:ext uri="{FF2B5EF4-FFF2-40B4-BE49-F238E27FC236}">
                <a16:creationId xmlns:a16="http://schemas.microsoft.com/office/drawing/2014/main" id="{8D114767-0A79-40C8-A929-7406ACD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7" name="v2-125">
            <a:extLst xmlns:a="http://schemas.openxmlformats.org/drawingml/2006/main">
              <a:ext uri="{FF2B5EF4-FFF2-40B4-BE49-F238E27FC236}">
                <a16:creationId xmlns:a16="http://schemas.microsoft.com/office/drawing/2014/main" id="{D8A294A6-9289-42DA-9839-428E5B4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28" name="v2-126">
            <a:extLst xmlns:a="http://schemas.openxmlformats.org/drawingml/2006/main">
              <a:ext uri="{FF2B5EF4-FFF2-40B4-BE49-F238E27FC236}">
                <a16:creationId xmlns:a16="http://schemas.microsoft.com/office/drawing/2014/main" id="{759CE3CA-9E11-4E7D-A124-8F0A0B6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783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127">
            <a:extLst xmlns:a="http://schemas.openxmlformats.org/drawingml/2006/main">
              <a:ext uri="{FF2B5EF4-FFF2-40B4-BE49-F238E27FC236}">
                <a16:creationId xmlns:a16="http://schemas.microsoft.com/office/drawing/2014/main" id="{E05B0F94-B803-40B4-8620-26DB97C8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中国实践之一</a:t>
            </a:r>
          </a:p>
        </p:txBody>
      </p:sp>
      <p:sp>
        <p:nvSpPr>
          <p:cNvPr id="2" name="v2-128">
            <a:extLst xmlns:a="http://schemas.openxmlformats.org/drawingml/2006/main">
              <a:ext uri="{FF2B5EF4-FFF2-40B4-BE49-F238E27FC236}">
                <a16:creationId xmlns:a16="http://schemas.microsoft.com/office/drawing/2014/main" id="{1D2E34AC-CA6C-4489-B6E9-0039A39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人工智能能力建设合作</a:t>
            </a:r>
          </a:p>
        </p:txBody>
      </p:sp>
      <p:sp>
        <p:nvSpPr>
          <p:cNvPr id="3" name="layout-129">
            <a:extLst xmlns:a="http://schemas.openxmlformats.org/drawingml/2006/main">
              <a:ext uri="{FF2B5EF4-FFF2-40B4-BE49-F238E27FC236}">
                <a16:creationId xmlns:a16="http://schemas.microsoft.com/office/drawing/2014/main" id="{F2CFB393-E75E-4E28-91CD-7E8D526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5B637-9B9D-4444-93FE-9D144E43D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6c2279dd94a51"/>
          <a:srcRect xmlns:a="http://schemas.openxmlformats.org/drawingml/2006/main" l="8961" t="0" r="8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33575"/>
            <a:ext cx="466725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v2-130">
            <a:extLst xmlns:a="http://schemas.openxmlformats.org/drawingml/2006/main">
              <a:ext uri="{FF2B5EF4-FFF2-40B4-BE49-F238E27FC236}">
                <a16:creationId xmlns:a16="http://schemas.microsoft.com/office/drawing/2014/main" id="{B5D4147A-CD9B-42D9-A6F2-5E8306C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联合国大会会场背景图</a:t>
            </a:r>
          </a:p>
        </p:txBody>
      </p:sp>
      <p:sp>
        <p:nvSpPr>
          <p:cNvPr id="6" name="v2-131">
            <a:extLst xmlns:a="http://schemas.openxmlformats.org/drawingml/2006/main">
              <a:ext uri="{FF2B5EF4-FFF2-40B4-BE49-F238E27FC236}">
                <a16:creationId xmlns:a16="http://schemas.microsoft.com/office/drawing/2014/main" id="{F355698F-B9DB-428B-B391-A01C66C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14525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2024年7月1日</a:t>
            </a:r>
          </a:p>
        </p:txBody>
      </p:sp>
      <p:sp>
        <p:nvSpPr>
          <p:cNvPr id="7" name="v2-132">
            <a:extLst xmlns:a="http://schemas.openxmlformats.org/drawingml/2006/main">
              <a:ext uri="{FF2B5EF4-FFF2-40B4-BE49-F238E27FC236}">
                <a16:creationId xmlns:a16="http://schemas.microsoft.com/office/drawing/2014/main" id="{F73F9FB4-2495-4941-A064-B88121E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中国主提的决议</a:t>
            </a:r>
          </a:p>
        </p:txBody>
      </p:sp>
      <p:sp>
        <p:nvSpPr>
          <p:cNvPr id="8" name="v2-133">
            <a:extLst xmlns:a="http://schemas.openxmlformats.org/drawingml/2006/main">
              <a:ext uri="{FF2B5EF4-FFF2-40B4-BE49-F238E27FC236}">
                <a16:creationId xmlns:a16="http://schemas.microsoft.com/office/drawing/2014/main" id="{570C7741-9310-4194-81D1-0F5C5F4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获联大协商一致通过</a:t>
            </a:r>
          </a:p>
        </p:txBody>
      </p:sp>
      <p:sp>
        <p:nvSpPr>
          <p:cNvPr id="9" name="v2-134">
            <a:extLst xmlns:a="http://schemas.openxmlformats.org/drawingml/2006/main">
              <a:ext uri="{FF2B5EF4-FFF2-40B4-BE49-F238E27FC236}">
                <a16:creationId xmlns:a16="http://schemas.microsoft.com/office/drawing/2014/main" id="{98E20126-4E2F-45A0-8B81-CF90CE9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合作重点</a:t>
            </a:r>
          </a:p>
        </p:txBody>
      </p:sp>
      <p:sp>
        <p:nvSpPr>
          <p:cNvPr id="10" name="v2-135">
            <a:extLst xmlns:a="http://schemas.openxmlformats.org/drawingml/2006/main">
              <a:ext uri="{FF2B5EF4-FFF2-40B4-BE49-F238E27FC236}">
                <a16:creationId xmlns:a16="http://schemas.microsoft.com/office/drawing/2014/main" id="{8CC9F543-DC64-47BB-90E5-D8AF59C9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67150"/>
            <a:ext cx="5819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鼓励国际合作，帮助发展中国家加强人工智能</a:t>
            </a:r>
          </a:p>
        </p:txBody>
      </p:sp>
      <p:sp>
        <p:nvSpPr>
          <p:cNvPr id="11" name="v2-136">
            <a:extLst xmlns:a="http://schemas.openxmlformats.org/drawingml/2006/main">
              <a:ext uri="{FF2B5EF4-FFF2-40B4-BE49-F238E27FC236}">
                <a16:creationId xmlns:a16="http://schemas.microsoft.com/office/drawing/2014/main" id="{C3C37F99-1F09-497E-B4E1-BEAE248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00525"/>
            <a:ext cx="5819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能力建设，增强其代表性和发言权。</a:t>
            </a:r>
          </a:p>
        </p:txBody>
      </p:sp>
      <p:sp>
        <p:nvSpPr>
          <p:cNvPr id="12" name="v2-137">
            <a:extLst xmlns:a="http://schemas.openxmlformats.org/drawingml/2006/main">
              <a:ext uri="{FF2B5EF4-FFF2-40B4-BE49-F238E27FC236}">
                <a16:creationId xmlns:a16="http://schemas.microsoft.com/office/drawing/2014/main" id="{59F8E7F9-429A-4525-94B4-EE1E91E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62500"/>
            <a:ext cx="582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参与价值与落实条件</a:t>
            </a:r>
          </a:p>
        </p:txBody>
      </p:sp>
      <p:sp>
        <p:nvSpPr>
          <p:cNvPr id="13" name="v2-138">
            <a:extLst xmlns:a="http://schemas.openxmlformats.org/drawingml/2006/main">
              <a:ext uri="{FF2B5EF4-FFF2-40B4-BE49-F238E27FC236}">
                <a16:creationId xmlns:a16="http://schemas.microsoft.com/office/drawing/2014/main" id="{D943DD5D-CA13-4819-9761-1C05DC5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162550"/>
            <a:ext cx="581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专业与技术能力，是表达需要、参与规则讨论的</a:t>
            </a:r>
          </a:p>
        </p:txBody>
      </p:sp>
      <p:sp>
        <p:nvSpPr>
          <p:cNvPr id="14" name="v2-139">
            <a:extLst xmlns:a="http://schemas.openxmlformats.org/drawingml/2006/main">
              <a:ext uri="{FF2B5EF4-FFF2-40B4-BE49-F238E27FC236}">
                <a16:creationId xmlns:a16="http://schemas.microsoft.com/office/drawing/2014/main" id="{F5325EEF-7B4E-4BAD-B397-A45DA168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67350"/>
            <a:ext cx="581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基础。决议确立合作方向，后续仍需要具体项目、</a:t>
            </a:r>
          </a:p>
        </p:txBody>
      </p:sp>
      <p:sp>
        <p:nvSpPr>
          <p:cNvPr id="15" name="v2-140">
            <a:extLst xmlns:a="http://schemas.openxmlformats.org/drawingml/2006/main">
              <a:ext uri="{FF2B5EF4-FFF2-40B4-BE49-F238E27FC236}">
                <a16:creationId xmlns:a16="http://schemas.microsoft.com/office/drawing/2014/main" id="{9641F128-B084-4A24-A2F3-BAC968B3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72150"/>
            <a:ext cx="581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持续投入与符合本国需要的教育培训。</a:t>
            </a:r>
          </a:p>
        </p:txBody>
      </p:sp>
      <p:sp>
        <p:nvSpPr>
          <p:cNvPr id="16" name="layout-141">
            <a:extLst xmlns:a="http://schemas.openxmlformats.org/drawingml/2006/main">
              <a:ext uri="{FF2B5EF4-FFF2-40B4-BE49-F238E27FC236}">
                <a16:creationId xmlns:a16="http://schemas.microsoft.com/office/drawing/2014/main" id="{E1A1E04E-0F35-4F5E-816E-195A908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142">
            <a:extLst xmlns:a="http://schemas.openxmlformats.org/drawingml/2006/main">
              <a:ext uri="{FF2B5EF4-FFF2-40B4-BE49-F238E27FC236}">
                <a16:creationId xmlns:a16="http://schemas.microsoft.com/office/drawing/2014/main" id="{5CF6DCCF-A58B-43D6-805B-C8C043E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[3] A/RES/78/311　[4] 中国常驻联合国代表团</a:t>
            </a:r>
          </a:p>
        </p:txBody>
      </p:sp>
      <p:sp>
        <p:nvSpPr>
          <p:cNvPr id="18" name="v2-143">
            <a:extLst xmlns:a="http://schemas.openxmlformats.org/drawingml/2006/main">
              <a:ext uri="{FF2B5EF4-FFF2-40B4-BE49-F238E27FC236}">
                <a16:creationId xmlns:a16="http://schemas.microsoft.com/office/drawing/2014/main" id="{8F5D0972-86A1-4308-B840-296940A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6920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144">
            <a:extLst xmlns:a="http://schemas.openxmlformats.org/drawingml/2006/main">
              <a:ext uri="{FF2B5EF4-FFF2-40B4-BE49-F238E27FC236}">
                <a16:creationId xmlns:a16="http://schemas.microsoft.com/office/drawing/2014/main" id="{A08642CC-B0F9-4E9D-B3AF-FDE23C9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中国实践之二</a:t>
            </a:r>
          </a:p>
        </p:txBody>
      </p:sp>
      <p:sp>
        <p:nvSpPr>
          <p:cNvPr id="2" name="v2-145">
            <a:extLst xmlns:a="http://schemas.openxmlformats.org/drawingml/2006/main">
              <a:ext uri="{FF2B5EF4-FFF2-40B4-BE49-F238E27FC236}">
                <a16:creationId xmlns:a16="http://schemas.microsoft.com/office/drawing/2014/main" id="{95B68068-78B5-4D7B-BD85-BBA12C1B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气候变化南南合作</a:t>
            </a:r>
          </a:p>
        </p:txBody>
      </p:sp>
      <p:sp>
        <p:nvSpPr>
          <p:cNvPr id="3" name="layout-146">
            <a:extLst xmlns:a="http://schemas.openxmlformats.org/drawingml/2006/main">
              <a:ext uri="{FF2B5EF4-FFF2-40B4-BE49-F238E27FC236}">
                <a16:creationId xmlns:a16="http://schemas.microsoft.com/office/drawing/2014/main" id="{11F101B2-868C-48D6-9BB6-1204A9E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47">
            <a:extLst xmlns:a="http://schemas.openxmlformats.org/drawingml/2006/main">
              <a:ext uri="{FF2B5EF4-FFF2-40B4-BE49-F238E27FC236}">
                <a16:creationId xmlns:a16="http://schemas.microsoft.com/office/drawing/2014/main" id="{69DEAEE8-0CAB-4EA4-B660-466A015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2025年3月5日，巴基斯坦</a:t>
            </a:r>
          </a:p>
        </p:txBody>
      </p:sp>
      <p:sp>
        <p:nvSpPr>
          <p:cNvPr id="5" name="v2-148">
            <a:extLst xmlns:a="http://schemas.openxmlformats.org/drawingml/2006/main">
              <a:ext uri="{FF2B5EF4-FFF2-40B4-BE49-F238E27FC236}">
                <a16:creationId xmlns:a16="http://schemas.microsoft.com/office/drawing/2014/main" id="{5F1E28AF-143D-46A3-9CD9-12CB9F9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气候早期预警项目启动</a:t>
            </a:r>
          </a:p>
        </p:txBody>
      </p:sp>
      <p:sp>
        <p:nvSpPr>
          <p:cNvPr id="6" name="v2-149">
            <a:extLst xmlns:a="http://schemas.openxmlformats.org/drawingml/2006/main">
              <a:ext uri="{FF2B5EF4-FFF2-40B4-BE49-F238E27FC236}">
                <a16:creationId xmlns:a16="http://schemas.microsoft.com/office/drawing/2014/main" id="{4AE465E5-A76F-4FC3-9E08-4C25222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29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中国通过全球发展和南南合作基金提供支持，</a:t>
            </a:r>
          </a:p>
        </p:txBody>
      </p:sp>
      <p:sp>
        <p:nvSpPr>
          <p:cNvPr id="7" name="v2-150">
            <a:extLst xmlns:a="http://schemas.openxmlformats.org/drawingml/2006/main">
              <a:ext uri="{FF2B5EF4-FFF2-40B4-BE49-F238E27FC236}">
                <a16:creationId xmlns:a16="http://schemas.microsoft.com/office/drawing/2014/main" id="{848A2492-22C4-4638-8CB4-4C17498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529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与联合国开发计划署（UNDP）及巴方合作，</a:t>
            </a:r>
          </a:p>
        </p:txBody>
      </p:sp>
      <p:sp>
        <p:nvSpPr>
          <p:cNvPr id="8" name="v2-151">
            <a:extLst xmlns:a="http://schemas.openxmlformats.org/drawingml/2006/main">
              <a:ext uri="{FF2B5EF4-FFF2-40B4-BE49-F238E27FC236}">
                <a16:creationId xmlns:a16="http://schemas.microsoft.com/office/drawing/2014/main" id="{3D74262D-2454-464B-87DB-D2B183B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529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回应当地气候风险与防灾准备需要。</a:t>
            </a:r>
          </a:p>
        </p:txBody>
      </p:sp>
      <p:sp>
        <p:nvSpPr>
          <p:cNvPr id="9" name="v2-152">
            <a:extLst xmlns:a="http://schemas.openxmlformats.org/drawingml/2006/main">
              <a:ext uri="{FF2B5EF4-FFF2-40B4-BE49-F238E27FC236}">
                <a16:creationId xmlns:a16="http://schemas.microsoft.com/office/drawing/2014/main" id="{29F32FD8-A1F2-4BC2-9C51-1AAD010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0" name="v2-153">
            <a:extLst xmlns:a="http://schemas.openxmlformats.org/drawingml/2006/main">
              <a:ext uri="{FF2B5EF4-FFF2-40B4-BE49-F238E27FC236}">
                <a16:creationId xmlns:a16="http://schemas.microsoft.com/office/drawing/2014/main" id="{81958B29-A30A-497F-AA16-4CCF2E2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5267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完善预警信息管理，加强社区防灾准备，</a:t>
            </a:r>
          </a:p>
        </p:txBody>
      </p:sp>
      <p:sp>
        <p:nvSpPr>
          <p:cNvPr id="11" name="v2-154">
            <a:extLst xmlns:a="http://schemas.openxmlformats.org/drawingml/2006/main">
              <a:ext uri="{FF2B5EF4-FFF2-40B4-BE49-F238E27FC236}">
                <a16:creationId xmlns:a16="http://schemas.microsoft.com/office/drawing/2014/main" id="{6437A7D5-1C6B-4759-9F64-581847E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5267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改善信息传播与相关协调能力。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F9659-418C-4F90-8DF0-93CAEEEEB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95ced28f46c0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66975"/>
            <a:ext cx="5257800" cy="3505200"/>
          </a:xfrm>
          <a:prstGeom xmlns:a="http://schemas.openxmlformats.org/drawingml/2006/main" prst="rect">
            <a:avLst/>
          </a:prstGeom>
        </p:spPr>
      </p:pic>
      <p:sp>
        <p:nvSpPr>
          <p:cNvPr id="13" name="v2-155">
            <a:extLst xmlns:a="http://schemas.openxmlformats.org/drawingml/2006/main">
              <a:ext uri="{FF2B5EF4-FFF2-40B4-BE49-F238E27FC236}">
                <a16:creationId xmlns:a16="http://schemas.microsoft.com/office/drawing/2014/main" id="{AEE0A61A-F55F-4042-82D6-DF4ABD6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007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项目启动活动中的设备演示，来源：UNDP</a:t>
            </a:r>
          </a:p>
        </p:txBody>
      </p:sp>
      <p:sp>
        <p:nvSpPr>
          <p:cNvPr id="14" name="v2-156">
            <a:extLst xmlns:a="http://schemas.openxmlformats.org/drawingml/2006/main">
              <a:ext uri="{FF2B5EF4-FFF2-40B4-BE49-F238E27FC236}">
                <a16:creationId xmlns:a16="http://schemas.microsoft.com/office/drawing/2014/main" id="{9BCBF0B3-84CD-4A36-8F36-EC6F841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项目已启动；后续成效需要持续实施与评估。</a:t>
            </a:r>
          </a:p>
        </p:txBody>
      </p:sp>
      <p:sp>
        <p:nvSpPr>
          <p:cNvPr id="15" name="layout-157">
            <a:extLst xmlns:a="http://schemas.openxmlformats.org/drawingml/2006/main">
              <a:ext uri="{FF2B5EF4-FFF2-40B4-BE49-F238E27FC236}">
                <a16:creationId xmlns:a16="http://schemas.microsoft.com/office/drawing/2014/main" id="{5A97B46D-4021-4283-88A9-EC9C990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158">
            <a:extLst xmlns:a="http://schemas.openxmlformats.org/drawingml/2006/main">
              <a:ext uri="{FF2B5EF4-FFF2-40B4-BE49-F238E27FC236}">
                <a16:creationId xmlns:a16="http://schemas.microsoft.com/office/drawing/2014/main" id="{C1C2C5C1-AED1-4282-A41E-8FB180E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[5] UNDP，2025-03-07</a:t>
            </a:r>
          </a:p>
        </p:txBody>
      </p:sp>
      <p:sp>
        <p:nvSpPr>
          <p:cNvPr id="17" name="v2-159">
            <a:extLst xmlns:a="http://schemas.openxmlformats.org/drawingml/2006/main">
              <a:ext uri="{FF2B5EF4-FFF2-40B4-BE49-F238E27FC236}">
                <a16:creationId xmlns:a16="http://schemas.microsoft.com/office/drawing/2014/main" id="{1E449EFD-A87E-41A6-86A1-2A56BF5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3185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2-160">
            <a:extLst xmlns:a="http://schemas.openxmlformats.org/drawingml/2006/main">
              <a:ext uri="{FF2B5EF4-FFF2-40B4-BE49-F238E27FC236}">
                <a16:creationId xmlns:a16="http://schemas.microsoft.com/office/drawing/2014/main" id="{39060E70-72F5-4F39-A1BB-BFF2AAD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课堂归纳</a:t>
            </a:r>
          </a:p>
        </p:txBody>
      </p:sp>
      <p:sp>
        <p:nvSpPr>
          <p:cNvPr id="2" name="v2-161">
            <a:extLst xmlns:a="http://schemas.openxmlformats.org/drawingml/2006/main">
              <a:ext uri="{FF2B5EF4-FFF2-40B4-BE49-F238E27FC236}">
                <a16:creationId xmlns:a16="http://schemas.microsoft.com/office/drawing/2014/main" id="{16D15F71-34B4-4914-9824-E6926DD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共同参与的落实路径</a:t>
            </a:r>
          </a:p>
        </p:txBody>
      </p:sp>
      <p:sp>
        <p:nvSpPr>
          <p:cNvPr id="3" name="layout-162">
            <a:extLst xmlns:a="http://schemas.openxmlformats.org/drawingml/2006/main">
              <a:ext uri="{FF2B5EF4-FFF2-40B4-BE49-F238E27FC236}">
                <a16:creationId xmlns:a16="http://schemas.microsoft.com/office/drawing/2014/main" id="{23337F67-56DD-4BE6-BB54-49A055B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63">
            <a:extLst xmlns:a="http://schemas.openxmlformats.org/drawingml/2006/main">
              <a:ext uri="{FF2B5EF4-FFF2-40B4-BE49-F238E27FC236}">
                <a16:creationId xmlns:a16="http://schemas.microsoft.com/office/drawing/2014/main" id="{712BB1DB-5BFE-4CA2-95CA-424F4A5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把原则落实到协商、能力建设与项目执行中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3893-5296-4513-863F-0DE3F3AB27C2}"/>
              </a:ext>
            </a:extLst>
          </p:cNvPr>
          <p:cNvGraphicFramePr/>
          <p:nvPr/>
        </p:nvGraphicFramePr>
        <p:xfrm>
          <a:off xmlns:a="http://schemas.openxmlformats.org/drawingml/2006/main" x="609600" y="25336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5238750"/>
                <a:gridCol w="40767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落实环节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行动内容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观察要点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规则协商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扩大代表性，充分听取发展中国家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与脆弱国家的合理关切。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相关国家的需要是否进入议程，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意见能否影响方案形成？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能力支持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通过人才培养、知识交流与技术合作，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改善持续参与的实际条件。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是否形成可持续的本地能力，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能否回应伙伴国需要？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责任落实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明确项目责任，跟踪运行与效果，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关注合作能否惠及当地人民。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系统能否持续运行，受益者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意见能否反馈到执行中？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6" name="layout-164">
            <a:extLst xmlns:a="http://schemas.openxmlformats.org/drawingml/2006/main">
              <a:ext uri="{FF2B5EF4-FFF2-40B4-BE49-F238E27FC236}">
                <a16:creationId xmlns:a16="http://schemas.microsoft.com/office/drawing/2014/main" id="{96CCF970-8854-456F-8B56-7921854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7" name="layout-165">
            <a:extLst xmlns:a="http://schemas.openxmlformats.org/drawingml/2006/main">
              <a:ext uri="{FF2B5EF4-FFF2-40B4-BE49-F238E27FC236}">
                <a16:creationId xmlns:a16="http://schemas.microsoft.com/office/drawing/2014/main" id="{00D6CE0F-6999-4894-9C3D-D7A3691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layout-166">
            <a:extLst xmlns:a="http://schemas.openxmlformats.org/drawingml/2006/main">
              <a:ext uri="{FF2B5EF4-FFF2-40B4-BE49-F238E27FC236}">
                <a16:creationId xmlns:a16="http://schemas.microsoft.com/office/drawing/2014/main" id="{905B4930-55FC-407D-A1C7-47AEC36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9" name="layout-167">
            <a:extLst xmlns:a="http://schemas.openxmlformats.org/drawingml/2006/main">
              <a:ext uri="{FF2B5EF4-FFF2-40B4-BE49-F238E27FC236}">
                <a16:creationId xmlns:a16="http://schemas.microsoft.com/office/drawing/2014/main" id="{72C755A6-1896-45A6-8665-2619EA1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0" name="v2-168">
            <a:extLst xmlns:a="http://schemas.openxmlformats.org/drawingml/2006/main">
              <a:ext uri="{FF2B5EF4-FFF2-40B4-BE49-F238E27FC236}">
                <a16:creationId xmlns:a16="http://schemas.microsoft.com/office/drawing/2014/main" id="{1F31205C-DB4D-48FD-A871-8B3328E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结合前述案例的课堂归纳</a:t>
            </a:r>
          </a:p>
        </p:txBody>
      </p:sp>
      <p:sp>
        <p:nvSpPr>
          <p:cNvPr id="11" name="v2-169">
            <a:extLst xmlns:a="http://schemas.openxmlformats.org/drawingml/2006/main">
              <a:ext uri="{FF2B5EF4-FFF2-40B4-BE49-F238E27FC236}">
                <a16:creationId xmlns:a16="http://schemas.microsoft.com/office/drawing/2014/main" id="{3F0D4B92-ED98-4634-A085-B20C066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0600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170">
            <a:extLst xmlns:a="http://schemas.openxmlformats.org/drawingml/2006/main">
              <a:ext uri="{FF2B5EF4-FFF2-40B4-BE49-F238E27FC236}">
                <a16:creationId xmlns:a16="http://schemas.microsoft.com/office/drawing/2014/main" id="{528E1EF7-C07F-4DF1-BB5F-E0022C8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layout-171">
            <a:extLst xmlns:a="http://schemas.openxmlformats.org/drawingml/2006/main">
              <a:ext uri="{FF2B5EF4-FFF2-40B4-BE49-F238E27FC236}">
                <a16:creationId xmlns:a16="http://schemas.microsoft.com/office/drawing/2014/main" id="{4D8486A4-7920-4C0A-BA4E-FB35069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3" name="v2-172">
            <a:extLst xmlns:a="http://schemas.openxmlformats.org/drawingml/2006/main">
              <a:ext uri="{FF2B5EF4-FFF2-40B4-BE49-F238E27FC236}">
                <a16:creationId xmlns:a16="http://schemas.microsoft.com/office/drawing/2014/main" id="{18476050-4BB4-40A2-8B64-48BA6927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57325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让每个国家的合理关切得到尊重</a:t>
            </a:r>
          </a:p>
        </p:txBody>
      </p:sp>
      <p:sp>
        <p:nvSpPr>
          <p:cNvPr id="4" name="v2-173">
            <a:extLst xmlns:a="http://schemas.openxmlformats.org/drawingml/2006/main">
              <a:ext uri="{FF2B5EF4-FFF2-40B4-BE49-F238E27FC236}">
                <a16:creationId xmlns:a16="http://schemas.microsoft.com/office/drawing/2014/main" id="{62442375-8A92-4DC7-B71D-AF38012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让合作成果更多惠及各国人民</a:t>
            </a:r>
          </a:p>
        </p:txBody>
      </p:sp>
      <p:sp>
        <p:nvSpPr>
          <p:cNvPr id="5" name="v2-174">
            <a:extLst xmlns:a="http://schemas.openxmlformats.org/drawingml/2006/main">
              <a:ext uri="{FF2B5EF4-FFF2-40B4-BE49-F238E27FC236}">
                <a16:creationId xmlns:a16="http://schemas.microsoft.com/office/drawing/2014/main" id="{EE740D11-039A-49EB-8639-1AC6CF0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主权平等</a:t>
            </a:r>
          </a:p>
        </p:txBody>
      </p:sp>
      <p:sp>
        <p:nvSpPr>
          <p:cNvPr id="6" name="v2-175">
            <a:extLst xmlns:a="http://schemas.openxmlformats.org/drawingml/2006/main">
              <a:ext uri="{FF2B5EF4-FFF2-40B4-BE49-F238E27FC236}">
                <a16:creationId xmlns:a16="http://schemas.microsoft.com/office/drawing/2014/main" id="{40922422-7FCB-45DB-9A06-0E897C7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为各国参与全球事务提供原则基础</a:t>
            </a:r>
          </a:p>
        </p:txBody>
      </p:sp>
      <p:sp>
        <p:nvSpPr>
          <p:cNvPr id="7" name="v2-176">
            <a:extLst xmlns:a="http://schemas.openxmlformats.org/drawingml/2006/main">
              <a:ext uri="{FF2B5EF4-FFF2-40B4-BE49-F238E27FC236}">
                <a16:creationId xmlns:a16="http://schemas.microsoft.com/office/drawing/2014/main" id="{C5A5F076-31C8-42A6-95A9-C307B7E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共同参与</a:t>
            </a:r>
          </a:p>
        </p:txBody>
      </p:sp>
      <p:sp>
        <p:nvSpPr>
          <p:cNvPr id="8" name="v2-177">
            <a:extLst xmlns:a="http://schemas.openxmlformats.org/drawingml/2006/main">
              <a:ext uri="{FF2B5EF4-FFF2-40B4-BE49-F238E27FC236}">
                <a16:creationId xmlns:a16="http://schemas.microsoft.com/office/drawing/2014/main" id="{F8ABFD98-3646-438D-9D2D-BC67838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通过公平的协商与能力建设不断实现</a:t>
            </a:r>
          </a:p>
        </p:txBody>
      </p:sp>
      <p:sp>
        <p:nvSpPr>
          <p:cNvPr id="9" name="v2-178">
            <a:extLst xmlns:a="http://schemas.openxmlformats.org/drawingml/2006/main">
              <a:ext uri="{FF2B5EF4-FFF2-40B4-BE49-F238E27FC236}">
                <a16:creationId xmlns:a16="http://schemas.microsoft.com/office/drawing/2014/main" id="{AC70DC5D-376A-44D2-A1E3-C1EB8A1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中国实践</a:t>
            </a:r>
          </a:p>
        </p:txBody>
      </p:sp>
      <p:sp>
        <p:nvSpPr>
          <p:cNvPr id="10" name="v2-179">
            <a:extLst xmlns:a="http://schemas.openxmlformats.org/drawingml/2006/main">
              <a:ext uri="{FF2B5EF4-FFF2-40B4-BE49-F238E27FC236}">
                <a16:creationId xmlns:a16="http://schemas.microsoft.com/office/drawing/2014/main" id="{DB0962C7-A7FC-429A-B71C-13E0F7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在多边平台和具体项目中推动合作行动</a:t>
            </a:r>
          </a:p>
        </p:txBody>
      </p:sp>
      <p:sp>
        <p:nvSpPr>
          <p:cNvPr id="11" name="layout-180">
            <a:extLst xmlns:a="http://schemas.openxmlformats.org/drawingml/2006/main">
              <a:ext uri="{FF2B5EF4-FFF2-40B4-BE49-F238E27FC236}">
                <a16:creationId xmlns:a16="http://schemas.microsoft.com/office/drawing/2014/main" id="{E309573F-81B8-4984-A24F-715F267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12" name="v2-181">
            <a:extLst xmlns:a="http://schemas.openxmlformats.org/drawingml/2006/main">
              <a:ext uri="{FF2B5EF4-FFF2-40B4-BE49-F238E27FC236}">
                <a16:creationId xmlns:a16="http://schemas.microsoft.com/office/drawing/2014/main" id="{F01F090B-4B2A-4491-ABD5-ED08787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13" name="v2-182">
            <a:extLst xmlns:a="http://schemas.openxmlformats.org/drawingml/2006/main">
              <a:ext uri="{FF2B5EF4-FFF2-40B4-BE49-F238E27FC236}">
                <a16:creationId xmlns:a16="http://schemas.microsoft.com/office/drawing/2014/main" id="{8E7E9D89-BDF9-4525-A1D3-49575FF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5F2E9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854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v2-183">
            <a:extLst xmlns:a="http://schemas.openxmlformats.org/drawingml/2006/main">
              <a:ext uri="{FF2B5EF4-FFF2-40B4-BE49-F238E27FC236}">
                <a16:creationId xmlns:a16="http://schemas.microsoft.com/office/drawing/2014/main" id="{6E585927-80CC-46AE-B81B-DA9C18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资料与图片来源</a:t>
            </a:r>
          </a:p>
        </p:txBody>
      </p:sp>
      <p:sp>
        <p:nvSpPr>
          <p:cNvPr id="2" name="v2-184">
            <a:extLst xmlns:a="http://schemas.openxmlformats.org/drawingml/2006/main">
              <a:ext uri="{FF2B5EF4-FFF2-40B4-BE49-F238E27FC236}">
                <a16:creationId xmlns:a16="http://schemas.microsoft.com/office/drawing/2014/main" id="{2BA35C4B-91E1-4A6D-B14D-3C00C64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参考资料</a:t>
            </a:r>
          </a:p>
        </p:txBody>
      </p:sp>
      <p:sp>
        <p:nvSpPr>
          <p:cNvPr id="3" name="layout-185">
            <a:extLst xmlns:a="http://schemas.openxmlformats.org/drawingml/2006/main">
              <a:ext uri="{FF2B5EF4-FFF2-40B4-BE49-F238E27FC236}">
                <a16:creationId xmlns:a16="http://schemas.microsoft.com/office/drawing/2014/main" id="{A105FA9F-0EBA-4258-AA7F-7F64CA8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86">
            <a:extLst xmlns:a="http://schemas.openxmlformats.org/drawingml/2006/main">
              <a:ext uri="{FF2B5EF4-FFF2-40B4-BE49-F238E27FC236}">
                <a16:creationId xmlns:a16="http://schemas.microsoft.com/office/drawing/2014/main" id="{908F2B10-0C37-443A-B38B-B337995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[1]</a:t>
            </a:r>
          </a:p>
        </p:txBody>
      </p:sp>
      <p:sp>
        <p:nvSpPr>
          <p:cNvPr id="5" name="v2-187">
            <a:extLst xmlns:a="http://schemas.openxmlformats.org/drawingml/2006/main">
              <a:ext uri="{FF2B5EF4-FFF2-40B4-BE49-F238E27FC236}">
                <a16:creationId xmlns:a16="http://schemas.microsoft.com/office/drawing/2014/main" id="{8857C5D8-DCB9-46E3-9326-7B792F6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49e9ccbba34901"/>
              </a:rPr>
              <a:t>《联合国宪章》第二条</a:t>
            </a:r>
          </a:p>
        </p:txBody>
      </p:sp>
      <p:sp>
        <p:nvSpPr>
          <p:cNvPr id="6" name="v2-188">
            <a:extLst xmlns:a="http://schemas.openxmlformats.org/drawingml/2006/main">
              <a:ext uri="{FF2B5EF4-FFF2-40B4-BE49-F238E27FC236}">
                <a16:creationId xmlns:a16="http://schemas.microsoft.com/office/drawing/2014/main" id="{57752268-0EEA-4488-A8FC-37808341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联合国官方文本</a:t>
            </a:r>
          </a:p>
        </p:txBody>
      </p:sp>
      <p:sp>
        <p:nvSpPr>
          <p:cNvPr id="7" name="v2-189">
            <a:extLst xmlns:a="http://schemas.openxmlformats.org/drawingml/2006/main">
              <a:ext uri="{FF2B5EF4-FFF2-40B4-BE49-F238E27FC236}">
                <a16:creationId xmlns:a16="http://schemas.microsoft.com/office/drawing/2014/main" id="{60E3192F-6EC2-40AE-B6F6-3ED51BF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主权平等的制度依据</a:t>
            </a:r>
          </a:p>
        </p:txBody>
      </p:sp>
      <p:sp>
        <p:nvSpPr>
          <p:cNvPr id="8" name="v2-190">
            <a:extLst xmlns:a="http://schemas.openxmlformats.org/drawingml/2006/main">
              <a:ext uri="{FF2B5EF4-FFF2-40B4-BE49-F238E27FC236}">
                <a16:creationId xmlns:a16="http://schemas.microsoft.com/office/drawing/2014/main" id="{BD217A01-A08B-4A59-9AAE-6063B21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[2]</a:t>
            </a:r>
          </a:p>
        </p:txBody>
      </p:sp>
      <p:sp>
        <p:nvSpPr>
          <p:cNvPr id="9" name="v2-191">
            <a:extLst xmlns:a="http://schemas.openxmlformats.org/drawingml/2006/main">
              <a:ext uri="{FF2B5EF4-FFF2-40B4-BE49-F238E27FC236}">
                <a16:creationId xmlns:a16="http://schemas.microsoft.com/office/drawing/2014/main" id="{ABC7FFB6-F66F-4CA5-BDBA-4E7DB85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9cdd8026184236"/>
              </a:rPr>
              <a:t>《全球治理倡议概念文件》</a:t>
            </a:r>
          </a:p>
        </p:txBody>
      </p:sp>
      <p:sp>
        <p:nvSpPr>
          <p:cNvPr id="10" name="v2-192">
            <a:extLst xmlns:a="http://schemas.openxmlformats.org/drawingml/2006/main">
              <a:ext uri="{FF2B5EF4-FFF2-40B4-BE49-F238E27FC236}">
                <a16:creationId xmlns:a16="http://schemas.microsoft.com/office/drawing/2014/main" id="{C72D1254-6454-4C7C-A68D-C47AE078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外交部，2025-09-01</a:t>
            </a:r>
          </a:p>
        </p:txBody>
      </p:sp>
      <p:sp>
        <p:nvSpPr>
          <p:cNvPr id="11" name="v2-193">
            <a:extLst xmlns:a="http://schemas.openxmlformats.org/drawingml/2006/main">
              <a:ext uri="{FF2B5EF4-FFF2-40B4-BE49-F238E27FC236}">
                <a16:creationId xmlns:a16="http://schemas.microsoft.com/office/drawing/2014/main" id="{000F56E6-6405-4E72-A10D-9841AB5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核心理念与共同参与的政策表述</a:t>
            </a:r>
          </a:p>
        </p:txBody>
      </p:sp>
      <p:sp>
        <p:nvSpPr>
          <p:cNvPr id="12" name="v2-194">
            <a:extLst xmlns:a="http://schemas.openxmlformats.org/drawingml/2006/main">
              <a:ext uri="{FF2B5EF4-FFF2-40B4-BE49-F238E27FC236}">
                <a16:creationId xmlns:a16="http://schemas.microsoft.com/office/drawing/2014/main" id="{7A1911A1-BAF6-42E1-A7CB-F78CF2F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[3]</a:t>
            </a:r>
          </a:p>
        </p:txBody>
      </p:sp>
      <p:sp>
        <p:nvSpPr>
          <p:cNvPr id="13" name="v2-195">
            <a:extLst xmlns:a="http://schemas.openxmlformats.org/drawingml/2006/main">
              <a:ext uri="{FF2B5EF4-FFF2-40B4-BE49-F238E27FC236}">
                <a16:creationId xmlns:a16="http://schemas.microsoft.com/office/drawing/2014/main" id="{4AEE8246-65C5-470C-ACD1-26126619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1c5033dc8430e"/>
              </a:rPr>
              <a:t>人工智能能力建设国际合作决议</a:t>
            </a:r>
          </a:p>
        </p:txBody>
      </p: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107639B7-6914-4287-80E1-82591DF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联合国大会，A/RES/78/311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420B3179-AA59-4506-BF20-9F601CF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通过日期：2024-07-01</a:t>
            </a:r>
          </a:p>
        </p:txBody>
      </p:sp>
      <p:sp>
        <p:nvSpPr>
          <p:cNvPr id="16" name="v2-198">
            <a:extLst xmlns:a="http://schemas.openxmlformats.org/drawingml/2006/main">
              <a:ext uri="{FF2B5EF4-FFF2-40B4-BE49-F238E27FC236}">
                <a16:creationId xmlns:a16="http://schemas.microsoft.com/office/drawing/2014/main" id="{147CBD99-0F0C-442C-88C9-8C5C2C9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[4]</a:t>
            </a:r>
          </a:p>
        </p:txBody>
      </p:sp>
      <p:sp>
        <p:nvSpPr>
          <p:cNvPr id="17" name="v2-199">
            <a:extLst xmlns:a="http://schemas.openxmlformats.org/drawingml/2006/main">
              <a:ext uri="{FF2B5EF4-FFF2-40B4-BE49-F238E27FC236}">
                <a16:creationId xmlns:a16="http://schemas.microsoft.com/office/drawing/2014/main" id="{419DC95E-0E9A-4DBB-BFCD-DC301D2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ead7f201a54438"/>
              </a:rPr>
              <a:t>联大通过中国主提的人工智能决议</a:t>
            </a:r>
          </a:p>
        </p:txBody>
      </p:sp>
      <p:sp>
        <p:nvSpPr>
          <p:cNvPr id="18" name="v2-200">
            <a:extLst xmlns:a="http://schemas.openxmlformats.org/drawingml/2006/main">
              <a:ext uri="{FF2B5EF4-FFF2-40B4-BE49-F238E27FC236}">
                <a16:creationId xmlns:a16="http://schemas.microsoft.com/office/drawing/2014/main" id="{1F292AF6-A4AC-4CFF-8E59-6922A00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中国常驻联合国代表团</a:t>
            </a:r>
          </a:p>
        </p:txBody>
      </p:sp>
      <p:sp>
        <p:nvSpPr>
          <p:cNvPr id="19" name="v2-201">
            <a:extLst xmlns:a="http://schemas.openxmlformats.org/drawingml/2006/main">
              <a:ext uri="{FF2B5EF4-FFF2-40B4-BE49-F238E27FC236}">
                <a16:creationId xmlns:a16="http://schemas.microsoft.com/office/drawing/2014/main" id="{68C40DC6-4F20-47E9-8812-87A2AD2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关于主提方与决议内容的正式记录</a:t>
            </a:r>
          </a:p>
        </p:txBody>
      </p:sp>
      <p:sp>
        <p:nvSpPr>
          <p:cNvPr id="20" name="v2-202">
            <a:extLst xmlns:a="http://schemas.openxmlformats.org/drawingml/2006/main">
              <a:ext uri="{FF2B5EF4-FFF2-40B4-BE49-F238E27FC236}">
                <a16:creationId xmlns:a16="http://schemas.microsoft.com/office/drawing/2014/main" id="{8400BA5A-9147-436D-8292-44CC381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[5]</a:t>
            </a:r>
          </a:p>
        </p:txBody>
      </p:sp>
      <p:sp>
        <p:nvSpPr>
          <p:cNvPr id="21" name="v2-203">
            <a:extLst xmlns:a="http://schemas.openxmlformats.org/drawingml/2006/main">
              <a:ext uri="{FF2B5EF4-FFF2-40B4-BE49-F238E27FC236}">
                <a16:creationId xmlns:a16="http://schemas.microsoft.com/office/drawing/2014/main" id="{90862B2F-6266-48A9-B3B3-E36539D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b1f8274e234d8a"/>
              </a:rPr>
              <a:t>巴基斯坦气候早期预警项目</a:t>
            </a:r>
          </a:p>
        </p:txBody>
      </p:sp>
      <p:sp>
        <p:nvSpPr>
          <p:cNvPr id="22" name="v2-204">
            <a:extLst xmlns:a="http://schemas.openxmlformats.org/drawingml/2006/main">
              <a:ext uri="{FF2B5EF4-FFF2-40B4-BE49-F238E27FC236}">
                <a16:creationId xmlns:a16="http://schemas.microsoft.com/office/drawing/2014/main" id="{64ED787B-0F84-47DD-BE9F-BE1D58A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UNDP，2025-03-07 报道</a:t>
            </a:r>
          </a:p>
        </p:txBody>
      </p:sp>
      <p:sp>
        <p:nvSpPr>
          <p:cNvPr id="23" name="v2-205">
            <a:extLst xmlns:a="http://schemas.openxmlformats.org/drawingml/2006/main">
              <a:ext uri="{FF2B5EF4-FFF2-40B4-BE49-F238E27FC236}">
                <a16:creationId xmlns:a16="http://schemas.microsoft.com/office/drawing/2014/main" id="{F18AA0CE-4F2C-4054-9314-1F356E4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启动日期：2025-03-05</a:t>
            </a:r>
          </a:p>
        </p:txBody>
      </p:sp>
      <p:sp>
        <p:nvSpPr>
          <p:cNvPr id="24" name="v2-206">
            <a:extLst xmlns:a="http://schemas.openxmlformats.org/drawingml/2006/main">
              <a:ext uri="{FF2B5EF4-FFF2-40B4-BE49-F238E27FC236}">
                <a16:creationId xmlns:a16="http://schemas.microsoft.com/office/drawing/2014/main" id="{6C021A7A-9F16-4AD6-9524-33203D4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[6]</a:t>
            </a:r>
          </a:p>
        </p:txBody>
      </p:sp>
      <p:sp>
        <p:nvSpPr>
          <p:cNvPr id="25" name="v2-207">
            <a:extLst xmlns:a="http://schemas.openxmlformats.org/drawingml/2006/main">
              <a:ext uri="{FF2B5EF4-FFF2-40B4-BE49-F238E27FC236}">
                <a16:creationId xmlns:a16="http://schemas.microsoft.com/office/drawing/2014/main" id="{C4D9CFC4-FE1E-4DBC-A364-D253EFD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9ca4187be44d97"/>
              </a:rPr>
              <a:t>《巴黎协定》与国家自主贡献</a:t>
            </a:r>
          </a:p>
        </p:txBody>
      </p:sp>
      <p:sp>
        <p:nvSpPr>
          <p:cNvPr id="26" name="v2-208">
            <a:extLst xmlns:a="http://schemas.openxmlformats.org/drawingml/2006/main">
              <a:ext uri="{FF2B5EF4-FFF2-40B4-BE49-F238E27FC236}">
                <a16:creationId xmlns:a16="http://schemas.microsoft.com/office/drawing/2014/main" id="{D3534955-7357-49FE-B84E-DBB6360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UNFCCC 官方介绍</a:t>
            </a:r>
          </a:p>
        </p:txBody>
      </p:sp>
      <p:sp>
        <p:nvSpPr>
          <p:cNvPr id="27" name="v2-209">
            <a:extLst xmlns:a="http://schemas.openxmlformats.org/drawingml/2006/main">
              <a:ext uri="{FF2B5EF4-FFF2-40B4-BE49-F238E27FC236}">
                <a16:creationId xmlns:a16="http://schemas.microsoft.com/office/drawing/2014/main" id="{CF8A7A6A-1AE1-432F-835F-88022155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公平与共同但有区别的责任</a:t>
            </a:r>
          </a:p>
        </p:txBody>
      </p:sp>
      <p:sp>
        <p:nvSpPr>
          <p:cNvPr id="28" name="layout-210">
            <a:extLst xmlns:a="http://schemas.openxmlformats.org/drawingml/2006/main">
              <a:ext uri="{FF2B5EF4-FFF2-40B4-BE49-F238E27FC236}">
                <a16:creationId xmlns:a16="http://schemas.microsoft.com/office/drawing/2014/main" id="{00A983D7-D8CB-4522-838A-04BA6EC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9" name="v2-211">
            <a:extLst xmlns:a="http://schemas.openxmlformats.org/drawingml/2006/main">
              <a:ext uri="{FF2B5EF4-FFF2-40B4-BE49-F238E27FC236}">
                <a16:creationId xmlns:a16="http://schemas.microsoft.com/office/drawing/2014/main" id="{1E2ABF33-DED9-4FA1-AB75-CF07A6A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图片：万国宫旗帜（Wikimedia Commons，CC0）；联合国大会会场（联合国新闻中心东京）。</a:t>
            </a:r>
          </a:p>
        </p:txBody>
      </p:sp>
      <p:sp>
        <p:nvSpPr>
          <p:cNvPr id="30" name="v2-212">
            <a:extLst xmlns:a="http://schemas.openxmlformats.org/drawingml/2006/main">
              <a:ext uri="{FF2B5EF4-FFF2-40B4-BE49-F238E27FC236}">
                <a16:creationId xmlns:a16="http://schemas.microsoft.com/office/drawing/2014/main" id="{11EC2540-DD7E-47A1-8285-14F838A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气候早期预警设备演示（UNDP，资料 [5]）。完整资料链接与事实说明见配套 Markdown 演讲稿。</a:t>
            </a:r>
          </a:p>
        </p:txBody>
      </p:sp>
      <p:sp>
        <p:nvSpPr>
          <p:cNvPr id="31" name="v2-213">
            <a:extLst xmlns:a="http://schemas.openxmlformats.org/drawingml/2006/main">
              <a:ext uri="{FF2B5EF4-FFF2-40B4-BE49-F238E27FC236}">
                <a16:creationId xmlns:a16="http://schemas.microsoft.com/office/drawing/2014/main" id="{7039246B-DEDE-422A-B02B-F72794C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642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2026-10-17T03:49:20.1090000Z</dcterms:created>
  <dcterms:modified xsi:type="dcterms:W3CDTF">2026-10-17T03:49:20.1090000Z</dcterms:modified>
</coreProperties>
</file>